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386"/>
    <p:restoredTop sz="94610"/>
  </p:normalViewPr>
  <p:slideViewPr>
    <p:cSldViewPr snapToGrid="0" snapToObjects="1">
      <p:cViewPr>
        <p:scale>
          <a:sx n="400" d="100"/>
          <a:sy n="400" d="100"/>
        </p:scale>
        <p:origin x="-8800" y="-9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88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96012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 Design &amp;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Specification</a:t>
            </a:r>
            <a:endParaRPr lang="en-US" sz="3300" dirty="0"/>
          </a:p>
        </p:txBody>
      </p:sp>
      <p:sp>
        <p:nvSpPr>
          <p:cNvPr id="38" name="Text 36"/>
          <p:cNvSpPr/>
          <p:nvPr/>
        </p:nvSpPr>
        <p:spPr>
          <a:xfrm>
            <a:off x="713232" y="242316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</a:rPr>
              <a:t>Specification of Products and Services · 7 sessions · 4th semester Industrial Design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903720" y="96012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77C9C8">
              <a:alpha val="92000"/>
            </a:srgbClr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214884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3B36C">
              <a:alpha val="92000"/>
            </a:srgbClr>
          </a:solidFill>
          <a:ln w="12700">
            <a:solidFill>
              <a:srgbClr val="F3B36C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333756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EA6670">
              <a:alpha val="92000"/>
            </a:srgbClr>
          </a:solidFill>
          <a:ln w="12700">
            <a:solidFill>
              <a:srgbClr val="EA667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1261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 Specification Report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78040" y="2450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Production Manual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178040" y="363931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 Landing Page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course is about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Students transform previous project work into technical product documentation and a public-facing product page.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1417320"/>
            <a:ext cx="5303520" cy="1097280"/>
          </a:xfrm>
          <a:prstGeom prst="roundRect">
            <a:avLst>
              <a:gd name="adj" fmla="val 41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1417320"/>
            <a:ext cx="100584" cy="1097280"/>
          </a:xfrm>
          <a:prstGeom prst="rect">
            <a:avLst/>
          </a:prstGeom>
          <a:solidFill>
            <a:srgbClr val="77C9C8"/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1618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7C9C8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80160" y="15636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Technical depth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80160" y="1892808"/>
            <a:ext cx="44348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Build a complete Product Specification Report / Production Manual with requirements, materials, drawings, BOM, ergonomics, production and sustainability.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" y="2743200"/>
            <a:ext cx="5303520" cy="1097280"/>
          </a:xfrm>
          <a:prstGeom prst="roundRect">
            <a:avLst>
              <a:gd name="adj" fmla="val 41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2743200"/>
            <a:ext cx="100584" cy="1097280"/>
          </a:xfrm>
          <a:prstGeom prst="rect">
            <a:avLst/>
          </a:prstGeom>
          <a:solidFill>
            <a:srgbClr val="F3B36C"/>
          </a:solidFill>
          <a:ln w="12700">
            <a:solidFill>
              <a:srgbClr val="F3B36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2944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B36C"/>
                </a:solidFill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80160" y="28895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Communication clarity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280160" y="3218688"/>
            <a:ext cx="44348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Translate the most important technical content into a concise, attractive landing page that promotes the product.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4360" y="4069080"/>
            <a:ext cx="5303520" cy="1097280"/>
          </a:xfrm>
          <a:prstGeom prst="roundRect">
            <a:avLst>
              <a:gd name="adj" fmla="val 41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" y="4069080"/>
            <a:ext cx="100584" cy="1097280"/>
          </a:xfrm>
          <a:prstGeom prst="rect">
            <a:avLst/>
          </a:prstGeom>
          <a:solidFill>
            <a:srgbClr val="96C98B"/>
          </a:solidFill>
          <a:ln w="12700">
            <a:solidFill>
              <a:srgbClr val="96C98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4270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6C98B"/>
                </a:solidFill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280160" y="4215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Progressive integration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280160" y="4544568"/>
            <a:ext cx="44348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Each session generates one section of the final report, so the final delivery is assembled step by step.</a:t>
            </a:r>
            <a:endParaRPr lang="en-US" sz="950" dirty="0"/>
          </a:p>
        </p:txBody>
      </p:sp>
      <p:pic>
        <p:nvPicPr>
          <p:cNvPr id="54" name="Image 0" descr="/mnt/data/image.png"/>
          <p:cNvPicPr>
            <a:picLocks noChangeAspect="1"/>
          </p:cNvPicPr>
          <p:nvPr/>
        </p:nvPicPr>
        <p:blipFill>
          <a:blip r:embed="rId3"/>
          <a:srcRect l="19127" r="19127"/>
          <a:stretch/>
        </p:blipFill>
        <p:spPr>
          <a:xfrm>
            <a:off x="6629400" y="1207008"/>
            <a:ext cx="4892040" cy="288036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6693408" y="4297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</a:rPr>
              <a:t>Previous process map and schedule become inputs, not duplicated content.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6693408" y="4773168"/>
            <a:ext cx="4617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The course closes the loop: concept → specification → production readiness → public communication.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Two connected outputs: one deep technical document and one concise promotional website.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" y="141732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1417320"/>
            <a:ext cx="100584" cy="1828800"/>
          </a:xfrm>
          <a:prstGeom prst="rect">
            <a:avLst/>
          </a:prstGeom>
          <a:solidFill>
            <a:srgbClr val="77C9C8"/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1618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7C9C8"/>
                </a:solidFill>
              </a:rPr>
              <a:t>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17320" y="15636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Extended Product Specification Report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417320" y="1892808"/>
            <a:ext cx="434340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Complete technical document: concept, requirements, robust design, materials, CMF, technical/productive specs, drawings, BOM, ergonomics, MVP, sustainability, normativity and references.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141732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1417320"/>
            <a:ext cx="100584" cy="1828800"/>
          </a:xfrm>
          <a:prstGeom prst="rect">
            <a:avLst/>
          </a:prstGeom>
          <a:solidFill>
            <a:srgbClr val="EA6670"/>
          </a:solidFill>
          <a:ln w="12700">
            <a:solidFill>
              <a:srgbClr val="EA667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1618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6670"/>
                </a:solidFill>
              </a:rPr>
              <a:t>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15636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Product Landing Page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1892808"/>
            <a:ext cx="434340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A visual one-page website that promotes the product: problem, solution, key benefits, how it works, features, technical highlights, sustainability, gallery and report download link.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51560" y="388620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D9F0EF"/>
          </a:solidFill>
          <a:ln w="12700">
            <a:solidFill>
              <a:srgbClr val="D9F0E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4712" y="3959352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</a:rPr>
              <a:t>Report = technical evidence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537960" y="3886200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F9D9DD"/>
          </a:solidFill>
          <a:ln w="12700">
            <a:solidFill>
              <a:srgbClr val="F9D9D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3959352"/>
            <a:ext cx="4288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</a:rPr>
              <a:t>Landing page = attractive communication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88720" y="4892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</a:rPr>
              <a:t>The website does not replace the report. It synthesizes it and makes the product easy to understand, evaluate and promote.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workflow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NotebookLM and AI tools help students compile, organize and convert project evidence into final outputs.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67128" y="2788920"/>
            <a:ext cx="6858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49808" y="2011680"/>
            <a:ext cx="1417320" cy="1417320"/>
          </a:xfrm>
          <a:prstGeom prst="ellipse">
            <a:avLst/>
          </a:prstGeom>
          <a:solidFill>
            <a:srgbClr val="77C9C8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25296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3776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</a:rPr>
              <a:t>Collect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Previous work, images, feedback, references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251960" y="2788920"/>
            <a:ext cx="6858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834640" y="2011680"/>
            <a:ext cx="1417320" cy="1417320"/>
          </a:xfrm>
          <a:prstGeom prst="ellipse">
            <a:avLst/>
          </a:prstGeom>
          <a:solidFill>
            <a:srgbClr val="F3B36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578608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</a:rPr>
              <a:t>Organize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542032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NotebookLM + project folder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36792" y="2788920"/>
            <a:ext cx="6858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919472" y="2011680"/>
            <a:ext cx="1417320" cy="1417320"/>
          </a:xfrm>
          <a:prstGeom prst="ellipse">
            <a:avLst/>
          </a:prstGeom>
          <a:solidFill>
            <a:srgbClr val="F4DE8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63440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</a:rPr>
              <a:t>Draft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626864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Report sections + landing copy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421624" y="2788920"/>
            <a:ext cx="6858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004304" y="2011680"/>
            <a:ext cx="1417320" cy="1417320"/>
          </a:xfrm>
          <a:prstGeom prst="ellipse">
            <a:avLst/>
          </a:prstGeom>
          <a:solidFill>
            <a:srgbClr val="96C98B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79792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48272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</a:rPr>
              <a:t>Publish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711696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Gamma / Canva / Notion / Google Sites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506456" y="2788920"/>
            <a:ext cx="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089136" y="2011680"/>
            <a:ext cx="1417320" cy="1417320"/>
          </a:xfrm>
          <a:prstGeom prst="ellipse">
            <a:avLst/>
          </a:prstGeom>
          <a:solidFill>
            <a:srgbClr val="EA667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64624" y="23591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833104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</a:rPr>
              <a:t>Present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796528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Critique and final delivery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325880" y="53949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222"/>
                </a:solidFill>
              </a:rPr>
              <a:t>Each session closes with a concrete piece of the final report and a matching website section.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Seven-session roadmap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The course is structured as a progressive build-up of the final report and landing page.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" y="1234440"/>
            <a:ext cx="10561320" cy="530352"/>
          </a:xfrm>
          <a:prstGeom prst="roundRect">
            <a:avLst>
              <a:gd name="adj" fmla="val 517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1325880"/>
            <a:ext cx="384048" cy="347472"/>
          </a:xfrm>
          <a:prstGeom prst="roundRect">
            <a:avLst>
              <a:gd name="adj" fmla="val 21053"/>
            </a:avLst>
          </a:prstGeom>
          <a:solidFill>
            <a:srgbClr val="77C9C8"/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" y="1399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72768" y="138074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Diagnosis + setup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0" y="1380744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Report index + landing wireframe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" y="1856232"/>
            <a:ext cx="10561320" cy="530352"/>
          </a:xfrm>
          <a:prstGeom prst="roundRect">
            <a:avLst>
              <a:gd name="adj" fmla="val 5172"/>
            </a:avLst>
          </a:prstGeom>
          <a:solidFill>
            <a:srgbClr val="F2F0E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0120" y="1947672"/>
            <a:ext cx="384048" cy="347472"/>
          </a:xfrm>
          <a:prstGeom prst="roundRect">
            <a:avLst>
              <a:gd name="adj" fmla="val 21053"/>
            </a:avLst>
          </a:prstGeom>
          <a:solidFill>
            <a:srgbClr val="F3B36C"/>
          </a:solidFill>
          <a:ln w="12700">
            <a:solidFill>
              <a:srgbClr val="F3B36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3272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572768" y="2002536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Concept + requirements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0" y="2002536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Overview, value proposition, requirements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22960" y="2478024"/>
            <a:ext cx="10561320" cy="530352"/>
          </a:xfrm>
          <a:prstGeom prst="roundRect">
            <a:avLst>
              <a:gd name="adj" fmla="val 517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0120" y="2569464"/>
            <a:ext cx="384048" cy="347472"/>
          </a:xfrm>
          <a:prstGeom prst="roundRect">
            <a:avLst>
              <a:gd name="adj" fmla="val 21053"/>
            </a:avLst>
          </a:prstGeom>
          <a:solidFill>
            <a:srgbClr val="F4DE8D"/>
          </a:solidFill>
          <a:ln w="12700">
            <a:solidFill>
              <a:srgbClr val="F4DE8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3272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72768" y="262432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Materials + CMF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0" y="2624328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Material sheets + technical specifications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22960" y="3099816"/>
            <a:ext cx="10561320" cy="530352"/>
          </a:xfrm>
          <a:prstGeom prst="roundRect">
            <a:avLst>
              <a:gd name="adj" fmla="val 5172"/>
            </a:avLst>
          </a:prstGeom>
          <a:solidFill>
            <a:srgbClr val="F2F0E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0120" y="3191256"/>
            <a:ext cx="384048" cy="347472"/>
          </a:xfrm>
          <a:prstGeom prst="roundRect">
            <a:avLst>
              <a:gd name="adj" fmla="val 21053"/>
            </a:avLst>
          </a:prstGeom>
          <a:solidFill>
            <a:srgbClr val="96C98B"/>
          </a:solidFill>
          <a:ln w="12700">
            <a:solidFill>
              <a:srgbClr val="96C98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3272" y="3264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572768" y="32461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Production + robust design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4572000" y="3246120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Production flow + risk matrix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22960" y="3721608"/>
            <a:ext cx="10561320" cy="530352"/>
          </a:xfrm>
          <a:prstGeom prst="roundRect">
            <a:avLst>
              <a:gd name="adj" fmla="val 517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0120" y="3813048"/>
            <a:ext cx="384048" cy="347472"/>
          </a:xfrm>
          <a:prstGeom prst="roundRect">
            <a:avLst>
              <a:gd name="adj" fmla="val 21053"/>
            </a:avLst>
          </a:prstGeom>
          <a:solidFill>
            <a:srgbClr val="EA6670"/>
          </a:solidFill>
          <a:ln w="12700">
            <a:solidFill>
              <a:srgbClr val="EA667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3272" y="3886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572768" y="386791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Drawings + BOM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4572000" y="3867912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Drawing package + cost/supplier table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22960" y="4343400"/>
            <a:ext cx="10561320" cy="530352"/>
          </a:xfrm>
          <a:prstGeom prst="roundRect">
            <a:avLst>
              <a:gd name="adj" fmla="val 5172"/>
            </a:avLst>
          </a:prstGeom>
          <a:solidFill>
            <a:srgbClr val="F2F0E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" y="4434840"/>
            <a:ext cx="384048" cy="347472"/>
          </a:xfrm>
          <a:prstGeom prst="roundRect">
            <a:avLst>
              <a:gd name="adj" fmla="val 21053"/>
            </a:avLst>
          </a:prstGeom>
          <a:solidFill>
            <a:srgbClr val="B8AA9D"/>
          </a:solidFill>
          <a:ln w="12700">
            <a:solidFill>
              <a:srgbClr val="B8AA9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3272" y="4507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572768" y="448970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Ergonomics + sustainability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572000" y="4489704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Use diagrams + MVP + life cycle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22960" y="4965192"/>
            <a:ext cx="10561320" cy="530352"/>
          </a:xfrm>
          <a:prstGeom prst="roundRect">
            <a:avLst>
              <a:gd name="adj" fmla="val 517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0120" y="5056632"/>
            <a:ext cx="384048" cy="347472"/>
          </a:xfrm>
          <a:prstGeom prst="roundRect">
            <a:avLst>
              <a:gd name="adj" fmla="val 21053"/>
            </a:avLst>
          </a:prstGeom>
          <a:solidFill>
            <a:srgbClr val="C7A0DD"/>
          </a:solidFill>
          <a:ln w="12700">
            <a:solidFill>
              <a:srgbClr val="C7A0DD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33272" y="5129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572768" y="5111496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Final integration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4572000" y="5111496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Report + published landing page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quality from previous courses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Past deliverables show that the final report should be a production manual, not only a visual portfolio.</a:t>
            </a:r>
            <a:endParaRPr lang="en-US" sz="950" dirty="0"/>
          </a:p>
        </p:txBody>
      </p:sp>
      <p:pic>
        <p:nvPicPr>
          <p:cNvPr id="39" name="Image 0" descr="/mnt/data/slide_assets/hydra_drawings-14.png"/>
          <p:cNvPicPr>
            <a:picLocks noChangeAspect="1"/>
          </p:cNvPicPr>
          <p:nvPr/>
        </p:nvPicPr>
        <p:blipFill>
          <a:blip r:embed="rId3"/>
          <a:srcRect t="3846" b="3846"/>
          <a:stretch/>
        </p:blipFill>
        <p:spPr>
          <a:xfrm>
            <a:off x="822960" y="1325880"/>
            <a:ext cx="2834640" cy="3703320"/>
          </a:xfrm>
          <a:prstGeom prst="rect">
            <a:avLst/>
          </a:prstGeom>
        </p:spPr>
      </p:pic>
      <p:pic>
        <p:nvPicPr>
          <p:cNvPr id="40" name="Image 1" descr="/mnt/data/slide_assets/ecco_bom-21.png"/>
          <p:cNvPicPr>
            <a:picLocks noChangeAspect="1"/>
          </p:cNvPicPr>
          <p:nvPr/>
        </p:nvPicPr>
        <p:blipFill>
          <a:blip r:embed="rId4"/>
          <a:srcRect l="22932" r="22932"/>
          <a:stretch/>
        </p:blipFill>
        <p:spPr>
          <a:xfrm>
            <a:off x="3886200" y="1325880"/>
            <a:ext cx="2834640" cy="3703320"/>
          </a:xfrm>
          <a:prstGeom prst="rect">
            <a:avLst/>
          </a:prstGeom>
        </p:spPr>
      </p:pic>
      <p:pic>
        <p:nvPicPr>
          <p:cNvPr id="41" name="Image 2" descr="/mnt/data/slide_assets/ecco_lifecycle-58.png"/>
          <p:cNvPicPr>
            <a:picLocks noChangeAspect="1"/>
          </p:cNvPicPr>
          <p:nvPr/>
        </p:nvPicPr>
        <p:blipFill>
          <a:blip r:embed="rId5"/>
          <a:srcRect l="22932" r="22932"/>
          <a:stretch/>
        </p:blipFill>
        <p:spPr>
          <a:xfrm>
            <a:off x="6949440" y="1325880"/>
            <a:ext cx="2834640" cy="37033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914400" y="52578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</a:rPr>
              <a:t>Drawings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3977640" y="52578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</a:rPr>
              <a:t>BOM + costs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7040880" y="52578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</a:rPr>
              <a:t>Life cycle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10012680" y="1389888"/>
            <a:ext cx="1371600" cy="3611880"/>
          </a:xfrm>
          <a:prstGeom prst="roundRect">
            <a:avLst>
              <a:gd name="adj" fmla="val 3333"/>
            </a:avLst>
          </a:prstGeom>
          <a:solidFill>
            <a:srgbClr val="343434"/>
          </a:solidFill>
          <a:ln w="12700">
            <a:solidFill>
              <a:srgbClr val="343434">
                <a:alpha val="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 rot="16200000">
            <a:off x="10177272" y="1691640"/>
            <a:ext cx="1051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new course adds a product landing page to communicate this technical work attractively.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1: Project Diagnosis and Final Deliverables Setup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Start with what students already have and map what is missing for a professional final package.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" y="132588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1325880"/>
            <a:ext cx="109728" cy="1143000"/>
          </a:xfrm>
          <a:prstGeom prst="rect">
            <a:avLst/>
          </a:prstGeom>
          <a:solidFill>
            <a:srgbClr val="77C9C8"/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14904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Objective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05840" y="1856232"/>
            <a:ext cx="4617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Define the structure of the final report and landing page; organize existing project evidence; identify gaps and risks.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5800" y="274320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2743200"/>
            <a:ext cx="109728" cy="1051560"/>
          </a:xfrm>
          <a:prstGeom prst="rect">
            <a:avLst/>
          </a:prstGeom>
          <a:solidFill>
            <a:srgbClr val="F3B36C"/>
          </a:solidFill>
          <a:ln w="12700">
            <a:solidFill>
              <a:srgbClr val="F3B36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29077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Report output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05840" y="3273552"/>
            <a:ext cx="46177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Project overview, initial report index, technical gap analysis and robust design diagnosis.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" y="402336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" y="4023360"/>
            <a:ext cx="109728" cy="1051560"/>
          </a:xfrm>
          <a:prstGeom prst="rect">
            <a:avLst/>
          </a:prstGeom>
          <a:solidFill>
            <a:srgbClr val="96C98B"/>
          </a:solidFill>
          <a:ln w="12700">
            <a:solidFill>
              <a:srgbClr val="96C98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41879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Website output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05840" y="4553712"/>
            <a:ext cx="46177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Landing page wireframe with hero, problem, solution, benefits and key visuals to collect.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46520" y="1325880"/>
            <a:ext cx="4892040" cy="3749040"/>
          </a:xfrm>
          <a:prstGeom prst="roundRect">
            <a:avLst>
              <a:gd name="adj" fmla="val 14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17556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6666"/>
                </a:solidFill>
              </a:rPr>
              <a:t>Session 1 guiding question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03720" y="2331720"/>
            <a:ext cx="39319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2222"/>
                </a:solidFill>
              </a:rPr>
              <a:t>What evidence do we already have, and what do we still need to prove the product can be produced, used, validated and promoted?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70408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</a:rPr>
              <a:t>By the end of the class, every team should know exactly what to build next.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agenda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Four hours focused on setup, diagnosis and first draft of the final structure.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11887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</a:rPr>
              <a:t>00:00–00:25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40280" y="1280160"/>
            <a:ext cx="502920" cy="0"/>
          </a:xfrm>
          <a:prstGeom prst="line">
            <a:avLst/>
          </a:prstGeom>
          <a:noFill/>
          <a:ln w="16510">
            <a:solidFill>
              <a:srgbClr val="77C9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1170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Course intro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937760" y="117957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Deliverables, workflow, examples and evaluation logic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68680" y="193852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</a:rPr>
              <a:t>00:25–01:05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40280" y="2029968"/>
            <a:ext cx="502920" cy="0"/>
          </a:xfrm>
          <a:prstGeom prst="line">
            <a:avLst/>
          </a:prstGeom>
          <a:noFill/>
          <a:ln w="16510">
            <a:solidFill>
              <a:srgbClr val="77C9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Reference review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937760" y="192938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Analyze previous manuals and extract quality criteria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68680" y="26883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</a:rPr>
              <a:t>01:05–01:55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40280" y="2779776"/>
            <a:ext cx="502920" cy="0"/>
          </a:xfrm>
          <a:prstGeom prst="line">
            <a:avLst/>
          </a:prstGeom>
          <a:noFill/>
          <a:ln w="16510">
            <a:solidFill>
              <a:srgbClr val="77C9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Project inventory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937760" y="26791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Collect sources, images, models, feedback and existing evidence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68680" y="34381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</a:rPr>
              <a:t>02:10–03:05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40280" y="3529584"/>
            <a:ext cx="502920" cy="0"/>
          </a:xfrm>
          <a:prstGeom prst="line">
            <a:avLst/>
          </a:prstGeom>
          <a:noFill/>
          <a:ln w="16510">
            <a:solidFill>
              <a:srgbClr val="77C9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80360" y="3419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AI-assisted diagnosis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937760" y="34290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Use NotebookLM to detect missing information and weak sections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68680" y="41879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</a:rPr>
              <a:t>03:05–03:45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40280" y="4279392"/>
            <a:ext cx="502920" cy="0"/>
          </a:xfrm>
          <a:prstGeom prst="line">
            <a:avLst/>
          </a:prstGeom>
          <a:noFill/>
          <a:ln w="16510">
            <a:solidFill>
              <a:srgbClr val="77C9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8036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Report + landing setup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937760" y="41788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Create report index and landing page wireframe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68680" y="49377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</a:rPr>
              <a:t>03:45–04:00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40280" y="5029200"/>
            <a:ext cx="502920" cy="0"/>
          </a:xfrm>
          <a:prstGeom prst="line">
            <a:avLst/>
          </a:prstGeom>
          <a:noFill/>
          <a:ln w="16510">
            <a:solidFill>
              <a:srgbClr val="77C9C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80360" y="4919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</a:rPr>
              <a:t>Exit review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4937760" y="492861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Submit Session 1 evidence and next-step checklist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1: Project evidence inventory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Students organize the materials that will feed the report and landing page.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" y="1298448"/>
            <a:ext cx="4800600" cy="804672"/>
          </a:xfrm>
          <a:prstGeom prst="roundRect">
            <a:avLst>
              <a:gd name="adj" fmla="val 568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1298448"/>
            <a:ext cx="100584" cy="804672"/>
          </a:xfrm>
          <a:prstGeom prst="rect">
            <a:avLst/>
          </a:prstGeom>
          <a:solidFill>
            <a:srgbClr val="77C9C8"/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1499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7C9C8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08760" y="1444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Concept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508760" y="1773936"/>
            <a:ext cx="3931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brief, problem, user, sketches, moodboard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1298448"/>
            <a:ext cx="4800600" cy="804672"/>
          </a:xfrm>
          <a:prstGeom prst="roundRect">
            <a:avLst>
              <a:gd name="adj" fmla="val 568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1298448"/>
            <a:ext cx="100584" cy="804672"/>
          </a:xfrm>
          <a:prstGeom prst="rect">
            <a:avLst/>
          </a:prstGeom>
          <a:solidFill>
            <a:srgbClr val="F3B36C"/>
          </a:solidFill>
          <a:ln w="12700">
            <a:solidFill>
              <a:srgbClr val="F3B36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1499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B36C"/>
                </a:solidFill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1444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Product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1773936"/>
            <a:ext cx="3931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renders, 3D screenshots, prototype photos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2960" y="2441448"/>
            <a:ext cx="4800600" cy="804672"/>
          </a:xfrm>
          <a:prstGeom prst="roundRect">
            <a:avLst>
              <a:gd name="adj" fmla="val 568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" y="2441448"/>
            <a:ext cx="100584" cy="804672"/>
          </a:xfrm>
          <a:prstGeom prst="rect">
            <a:avLst/>
          </a:prstGeom>
          <a:solidFill>
            <a:srgbClr val="F4DE8D"/>
          </a:solidFill>
          <a:ln w="12700">
            <a:solidFill>
              <a:srgbClr val="F4DE8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2642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E8D"/>
                </a:solidFill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08760" y="2587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Technical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508760" y="2916936"/>
            <a:ext cx="3931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materials, dimensions, drawings, parts, processes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63640" y="2441448"/>
            <a:ext cx="4800600" cy="804672"/>
          </a:xfrm>
          <a:prstGeom prst="roundRect">
            <a:avLst>
              <a:gd name="adj" fmla="val 568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2441448"/>
            <a:ext cx="100584" cy="804672"/>
          </a:xfrm>
          <a:prstGeom prst="rect">
            <a:avLst/>
          </a:prstGeom>
          <a:solidFill>
            <a:srgbClr val="96C98B"/>
          </a:solidFill>
          <a:ln w="12700">
            <a:solidFill>
              <a:srgbClr val="96C98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2642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6C98B"/>
                </a:solidFill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49440" y="2587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949440" y="2916936"/>
            <a:ext cx="3931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feedback, tests, ergonomic notes, MVP limits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2960" y="3584448"/>
            <a:ext cx="4800600" cy="804672"/>
          </a:xfrm>
          <a:prstGeom prst="roundRect">
            <a:avLst>
              <a:gd name="adj" fmla="val 568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2960" y="3584448"/>
            <a:ext cx="100584" cy="804672"/>
          </a:xfrm>
          <a:prstGeom prst="rect">
            <a:avLst/>
          </a:prstGeom>
          <a:solidFill>
            <a:srgbClr val="EA6670"/>
          </a:solidFill>
          <a:ln w="12700">
            <a:solidFill>
              <a:srgbClr val="EA667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785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6670"/>
                </a:solidFill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508760" y="3730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Business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508760" y="4059936"/>
            <a:ext cx="3931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market requirements, price target, suppliers, costs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63640" y="3584448"/>
            <a:ext cx="4800600" cy="804672"/>
          </a:xfrm>
          <a:prstGeom prst="roundRect">
            <a:avLst>
              <a:gd name="adj" fmla="val 568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63640" y="3584448"/>
            <a:ext cx="100584" cy="804672"/>
          </a:xfrm>
          <a:prstGeom prst="rect">
            <a:avLst/>
          </a:prstGeom>
          <a:solidFill>
            <a:srgbClr val="B8AA9D"/>
          </a:solidFill>
          <a:ln w="12700">
            <a:solidFill>
              <a:srgbClr val="B8AA9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3785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AA9D"/>
                </a:solidFill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949440" y="3730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Impact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949440" y="4059936"/>
            <a:ext cx="3931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sustainability, life cycle, regulations, references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09</a:t>
            </a:r>
            <a:endParaRPr lang="en-US" sz="800" dirty="0"/>
          </a:p>
        </p:txBody>
      </p:sp>
      <p:sp>
        <p:nvSpPr>
          <p:cNvPr id="72" name="Text 67">
            <a:extLst>
              <a:ext uri="{FF2B5EF4-FFF2-40B4-BE49-F238E27FC236}">
                <a16:creationId xmlns:a16="http://schemas.microsoft.com/office/drawing/2014/main" id="{AA004E07-C56A-9244-A6DA-5E3F1D5F4FCF}"/>
              </a:ext>
            </a:extLst>
          </p:cNvPr>
          <p:cNvSpPr/>
          <p:nvPr/>
        </p:nvSpPr>
        <p:spPr>
          <a:xfrm>
            <a:off x="1769364" y="5038345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222222"/>
                </a:solidFill>
              </a:rPr>
              <a:t>victor.valencia@tec.mx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2: AI-assisted gap analysis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NotebookLM is used to compare project evidence against the expected final report.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" y="1325880"/>
            <a:ext cx="4983480" cy="4160520"/>
          </a:xfrm>
          <a:prstGeom prst="roundRect">
            <a:avLst>
              <a:gd name="adj" fmla="val 1099"/>
            </a:avLst>
          </a:prstGeom>
          <a:solidFill>
            <a:srgbClr val="343434"/>
          </a:solidFill>
          <a:ln w="12700">
            <a:solidFill>
              <a:srgbClr val="34343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" y="16276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7C9C8"/>
                </a:solidFill>
              </a:rPr>
              <a:t>Prompt for NotebookLM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78992" y="2057400"/>
            <a:ext cx="438912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Review all sources in this notebook and identify what information is missing to complete a professional Product Specification Report and Production Manual. Organize the missing information by: concept, requirements, materials, technical specifications, productive specifications, drawings, BOM, ergonomics, MVP, sustainability, normativity and references.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00800" y="1417320"/>
            <a:ext cx="47548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1417320"/>
            <a:ext cx="100584" cy="868680"/>
          </a:xfrm>
          <a:prstGeom prst="rect">
            <a:avLst/>
          </a:prstGeom>
          <a:solidFill>
            <a:srgbClr val="77C9C8"/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1618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7C9C8"/>
                </a:solidFill>
              </a:rPr>
              <a:t>Output 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1563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Missing information map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86600" y="1892808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A list of gaps organized by report section.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0" y="2514600"/>
            <a:ext cx="47548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2514600"/>
            <a:ext cx="100584" cy="868680"/>
          </a:xfrm>
          <a:prstGeom prst="rect">
            <a:avLst/>
          </a:prstGeom>
          <a:solidFill>
            <a:srgbClr val="F3B36C"/>
          </a:solidFill>
          <a:ln w="12700">
            <a:solidFill>
              <a:srgbClr val="F3B36C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715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B36C"/>
                </a:solidFill>
              </a:rPr>
              <a:t>Output 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8660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Risk and robust design matrix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86600" y="2990088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Possible failures, causes, consequences and design improvements.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0" y="3611880"/>
            <a:ext cx="47548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3611880"/>
            <a:ext cx="100584" cy="868680"/>
          </a:xfrm>
          <a:prstGeom prst="rect">
            <a:avLst/>
          </a:prstGeom>
          <a:solidFill>
            <a:srgbClr val="96C98B"/>
          </a:solidFill>
          <a:ln w="12700">
            <a:solidFill>
              <a:srgbClr val="96C98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3813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6C98B"/>
                </a:solidFill>
              </a:rPr>
              <a:t>Output 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86600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Next-step checklist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086600" y="4087368"/>
            <a:ext cx="3886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What each team must collect, draw, test or justify before Session 2.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6E3DC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deliverable / evidence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521208" y="7863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What students submit at the end of the first class.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" y="1234440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7552" y="1435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7C9C8"/>
          </a:solidFill>
          <a:ln w="12700">
            <a:solidFill>
              <a:srgbClr val="77C9C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" y="150876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536192" y="13807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</a:rPr>
              <a:t>Project folder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536192" y="1691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All available project files organized and named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1234440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435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3B36C"/>
          </a:solidFill>
          <a:ln w="12700">
            <a:solidFill>
              <a:srgbClr val="F3B36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1384" y="150876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76872" y="13807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</a:rPr>
              <a:t>NotebookLM notebook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976872" y="1691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Sources uploaded and ready for AI-assisted review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" y="2468880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7552" y="2670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4DE8D"/>
          </a:solidFill>
          <a:ln w="12700">
            <a:solidFill>
              <a:srgbClr val="F4DE8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0704" y="27432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536192" y="2615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</a:rPr>
              <a:t>Report index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536192" y="2926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Draft structure of the extended technical report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2468880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28232" y="2670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96C98B"/>
          </a:solidFill>
          <a:ln w="12700">
            <a:solidFill>
              <a:srgbClr val="96C98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01384" y="27432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976872" y="2615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</a:rPr>
              <a:t>Landing wireframe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6976872" y="2926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Hero, problem, solution, benefits and visual plan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22960" y="3703320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7552" y="3904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6670"/>
          </a:solidFill>
          <a:ln w="12700">
            <a:solidFill>
              <a:srgbClr val="EA667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0704" y="39776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536192" y="3849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</a:rPr>
              <a:t>Gap analysis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536192" y="4160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Missing information and technical risks identified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263640" y="3703320"/>
            <a:ext cx="480060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28232" y="3904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8AA9D"/>
          </a:solidFill>
          <a:ln w="12700">
            <a:solidFill>
              <a:srgbClr val="B8AA9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01384" y="39776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976872" y="3849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</a:rPr>
              <a:t>Next steps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6976872" y="4160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Specific tasks assigned to team members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463040" y="54406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</a:rPr>
              <a:t>Next class starts from the requirements table and value proposition.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Specification of Products and Services · Robust Design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1301984" y="6483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1108</Words>
  <Application>Microsoft Macintosh PowerPoint</Application>
  <PresentationFormat>Panorámica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 de Monterrey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Design and Product Specification</dc:title>
  <dc:subject>Specification of Products and Services</dc:subject>
  <dc:creator>OpenAI</dc:creator>
  <cp:lastModifiedBy>Microsoft Office User</cp:lastModifiedBy>
  <cp:revision>3</cp:revision>
  <dcterms:created xsi:type="dcterms:W3CDTF">2026-05-14T04:18:40Z</dcterms:created>
  <dcterms:modified xsi:type="dcterms:W3CDTF">2026-05-15T00:34:12Z</dcterms:modified>
</cp:coreProperties>
</file>