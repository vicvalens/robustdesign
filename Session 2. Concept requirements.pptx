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3"/>
    <p:restoredTop sz="94610"/>
  </p:normalViewPr>
  <p:slideViewPr>
    <p:cSldViewPr snapToGrid="0" snapToObjects="1">
      <p:cViewPr>
        <p:scale>
          <a:sx n="138" d="100"/>
          <a:sy n="138" d="100"/>
        </p:scale>
        <p:origin x="75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87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23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modern_studio_classroom_atelier_interior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658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FE8E6"/>
                </a:solidFill>
              </a:rPr>
              <a:t>Session 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078992"/>
            <a:ext cx="61264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and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58368" y="2788920"/>
            <a:ext cx="5669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5F5F5"/>
                </a:solidFill>
              </a:rPr>
              <a:t>Using NotebookLM to build the first draft of the technical and visual/commercial reports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58368" y="5989320"/>
            <a:ext cx="2971800" cy="347472"/>
          </a:xfrm>
          <a:prstGeom prst="roundRect">
            <a:avLst>
              <a:gd name="adj" fmla="val 21053"/>
            </a:avLst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" y="6067044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Specification of Products and Services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794760" y="598932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904488" y="606704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Robust Design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goal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Move from the Session 1 index to a usable report section.</a:t>
            </a:r>
            <a:endParaRPr lang="en-US" sz="1300" dirty="0"/>
          </a:p>
        </p:txBody>
      </p:sp>
      <p:pic>
        <p:nvPicPr>
          <p:cNvPr id="8" name="Image 0" descr="/mnt/data/a_clean_well_lit_workspace_desk_scene_with_a_larg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91640"/>
            <a:ext cx="374904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87452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874520"/>
            <a:ext cx="73152" cy="1143000"/>
          </a:xfrm>
          <a:prstGeom prst="rect">
            <a:avLst/>
          </a:prstGeom>
          <a:solidFill>
            <a:srgbClr val="6F4EB5"/>
          </a:solidFill>
          <a:ln w="12700">
            <a:solidFill>
              <a:srgbClr val="6F4E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03911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Input from Session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377440"/>
            <a:ext cx="2971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Index of the technical report + idea for the visual/commercial report.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60520" y="187452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60520" y="1874520"/>
            <a:ext cx="73152" cy="1143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NotebookLM work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89120" y="2377440"/>
            <a:ext cx="2788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Use uploaded sources to generate a structured draft with text and suggested images.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4360" y="3337560"/>
            <a:ext cx="33832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3337560"/>
            <a:ext cx="73152" cy="1143000"/>
          </a:xfrm>
          <a:prstGeom prst="rect">
            <a:avLst/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5021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Output for Session 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2960" y="3840480"/>
            <a:ext cx="2971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Concept and Requirements report: overview, value proposition and requirements.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160520" y="333756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60520" y="3337560"/>
            <a:ext cx="73152" cy="1143000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350215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Reports check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389120" y="3840480"/>
            <a:ext cx="2788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The report must support both future deliverables: production and user-facing communication.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previous reports show us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Good technical reports begin with concept and requirements before moving into production.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828800"/>
            <a:ext cx="73152" cy="1280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9339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Concept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Product idea, user, context, problem and value proposition.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828800"/>
            <a:ext cx="73152" cy="1280160"/>
          </a:xfrm>
          <a:prstGeom prst="rect">
            <a:avLst/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9339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What the product must do, how it should perform and how it will be checked.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182880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828800"/>
            <a:ext cx="73152" cy="1280160"/>
          </a:xfrm>
          <a:prstGeom prst="rect">
            <a:avLst/>
          </a:prstGeom>
          <a:solidFill>
            <a:srgbClr val="6F4EB5"/>
          </a:solidFill>
          <a:ln w="12700">
            <a:solidFill>
              <a:srgbClr val="6F4E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99339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Specification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Materials, parts, dimensions, drawings, BOM, processes, ergonomics and validation.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730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</a:rPr>
              <a:t>Session 2 focuses only on the first two levels.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8046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Do not write the final production manual yet.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Do define what the product needs to prove later.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Do connect technical criteria with how the product will be shown to users.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01000" y="525780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10728" y="5335524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Concept → Requirements → Evidence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reports, one foundation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The Session 2 report must support both paths.</a:t>
            </a:r>
            <a:endParaRPr lang="en-US" sz="1300" dirty="0"/>
          </a:p>
        </p:txBody>
      </p:sp>
      <p:pic>
        <p:nvPicPr>
          <p:cNvPr id="8" name="Image 0" descr="/mnt/data/wide_clean_modern_ui_graphic_design_composite_sc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525780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178308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783080"/>
            <a:ext cx="73152" cy="13258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94767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Technical report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2286000"/>
            <a:ext cx="4892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For a manufacturer. It explains what the product is, what it includes, what it must do and what information will be needed for production.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333756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3337560"/>
            <a:ext cx="73152" cy="1325880"/>
          </a:xfrm>
          <a:prstGeom prst="rect">
            <a:avLst/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50215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Visual / commercial report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3840480"/>
            <a:ext cx="4892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For the final user. It explains how the product should be shown, understood, desired and purchased.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309360" y="4983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222"/>
                </a:solidFill>
              </a:rPr>
              <a:t>Same product. Different purpose. Different language.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report structure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Can use this as the base for their PDF, Google Doc, Notion page or NotebookLM prompt.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2377440" cy="310896"/>
          </a:xfrm>
          <a:prstGeom prst="rect">
            <a:avLst/>
          </a:prstGeom>
          <a:solidFill>
            <a:srgbClr val="0E7C7B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81051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</a:rPr>
              <a:t>Section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971800" y="1737360"/>
            <a:ext cx="8641080" cy="310896"/>
          </a:xfrm>
          <a:prstGeom prst="rect">
            <a:avLst/>
          </a:prstGeom>
          <a:solidFill>
            <a:srgbClr val="0E7C7B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1810512"/>
            <a:ext cx="8531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</a:rPr>
              <a:t>What it must include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94360" y="2048256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1214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1. Overview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971800" y="2048256"/>
            <a:ext cx="8641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6664" y="2121408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What the product is, who it is for and what problem it solves.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94360" y="2441448"/>
            <a:ext cx="2377440" cy="393192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51460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2. User + context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971800" y="2441448"/>
            <a:ext cx="8641080" cy="393192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6664" y="2514600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Target user, situation of use, needs and pain points.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94360" y="2834640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90779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3. Problem statement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971800" y="2834640"/>
            <a:ext cx="8641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6664" y="2907792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Clear statement of the main problem in 3–5 lines.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3227832"/>
            <a:ext cx="2377440" cy="393192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300984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4. Value proposition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971800" y="3227832"/>
            <a:ext cx="8641080" cy="393192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6664" y="3300984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Why the product is useful, different and desirable.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94360" y="3621024"/>
            <a:ext cx="2377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3694176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5. Concept direction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971800" y="3621024"/>
            <a:ext cx="8641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6664" y="3694176"/>
            <a:ext cx="8531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Moodboard, design intention, product personality and key attributes.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94360" y="4123944"/>
            <a:ext cx="2377440" cy="59436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4197096"/>
            <a:ext cx="22677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6. Technical direction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971800" y="4123944"/>
            <a:ext cx="8641080" cy="59436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6664" y="4197096"/>
            <a:ext cx="8531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Materials, parts, mechanisms, dimensions, production, assembly, safety, ergonomics and maintenance.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94360" y="4718304"/>
            <a:ext cx="23774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479145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7. Visual / commercial direction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971800" y="4718304"/>
            <a:ext cx="86410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26664" y="4791456"/>
            <a:ext cx="8531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Website, shopping page, app, configurator, videos, renders, benefits and purchase experience.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594360" y="5294376"/>
            <a:ext cx="237744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" y="5367528"/>
            <a:ext cx="2267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8. Requirements table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2971800" y="5294376"/>
            <a:ext cx="864108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6664" y="5367528"/>
            <a:ext cx="85313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Requirements with category, criteria, visual translation and evidence needed.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594360" y="5797296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" y="587044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9. MVP + next steps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971800" y="5797296"/>
            <a:ext cx="8641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26664" y="5870448"/>
            <a:ext cx="8531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22222"/>
                </a:solidFill>
              </a:rPr>
              <a:t>What the first functional version must prove and what must be researched next.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NotebookLM workflow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NotebookLM can write the first draft, but the team must edit, verify and complete it.</a:t>
            </a:r>
            <a:endParaRPr lang="en-US" sz="1300" dirty="0"/>
          </a:p>
        </p:txBody>
      </p:sp>
      <p:pic>
        <p:nvPicPr>
          <p:cNvPr id="8" name="Image 0" descr="/mnt/data/a_clean_flat_graphic_design_mockup_presentation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4663440" cy="3977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70992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184708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25880" y="1691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</a:rPr>
              <a:t>Upload sources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25880" y="19933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Session 1 index, sketches, brief, moodboard, renders, feedback, benchmarks.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92608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25880" y="27706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</a:rPr>
              <a:t>Upload visuals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25880" y="30723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Create a visual evidence PDF or slides with numbered images and captions.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85800" y="3867912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" y="400507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325880" y="38496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</a:rPr>
              <a:t>Prompt NotebookLM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Ask for the Session 2 report using only the uploaded sources.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5800" y="4946904"/>
            <a:ext cx="457200" cy="457200"/>
          </a:xfrm>
          <a:prstGeom prst="ellipse">
            <a:avLst/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" y="508406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25880" y="492861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</a:rPr>
              <a:t>Edit and layout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25880" y="5230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Move the text and images into Docs, Notion, Canva or PDF format.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prompting: prepare visual evidence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NotebookLM works better when the images are organized and labeled.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914400" cy="384048"/>
          </a:xfrm>
          <a:prstGeom prst="rect">
            <a:avLst/>
          </a:prstGeom>
          <a:solidFill>
            <a:srgbClr val="6F4EB5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81051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Figure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1508760" y="1737360"/>
            <a:ext cx="2286000" cy="384048"/>
          </a:xfrm>
          <a:prstGeom prst="rect">
            <a:avLst/>
          </a:prstGeom>
          <a:solidFill>
            <a:srgbClr val="6F4EB5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63624" y="18105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Image type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794760" y="1737360"/>
            <a:ext cx="4709160" cy="384048"/>
          </a:xfrm>
          <a:prstGeom prst="rect">
            <a:avLst/>
          </a:prstGeom>
          <a:solidFill>
            <a:srgbClr val="6F4EB5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1810512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Caption example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108960" cy="384048"/>
          </a:xfrm>
          <a:prstGeom prst="rect">
            <a:avLst/>
          </a:prstGeom>
          <a:solidFill>
            <a:srgbClr val="6F4EB5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58784" y="181051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Report section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4360" y="2121408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194560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Fig.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08760" y="2121408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63624" y="2194560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Main render or sketch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94760" y="2121408"/>
            <a:ext cx="4709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2194560"/>
            <a:ext cx="4599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Product overview and main function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2121408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8784" y="2194560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Overview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91440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2697480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Fig.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08760" y="2624328"/>
            <a:ext cx="228600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63624" y="2697480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User/context image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94760" y="2624328"/>
            <a:ext cx="470916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9624" y="2697480"/>
            <a:ext cx="4599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Where and how the product is used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2624328"/>
            <a:ext cx="310896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58784" y="2697480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User + context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3127248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3200400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Fig. 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08760" y="3127248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63624" y="3200400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Moodboard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94760" y="3127248"/>
            <a:ext cx="4709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9624" y="3200400"/>
            <a:ext cx="4599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Visual language and product personality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3127248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58784" y="3200400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Concept direction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3630168"/>
            <a:ext cx="91440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" y="3703320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Fig. 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508760" y="3630168"/>
            <a:ext cx="228600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63624" y="3703320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Parts diagram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94760" y="3630168"/>
            <a:ext cx="470916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9624" y="3703320"/>
            <a:ext cx="4599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Early technical logic of the product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03920" y="3630168"/>
            <a:ext cx="310896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58784" y="3703320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Technical direction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4360" y="4133088"/>
            <a:ext cx="914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" y="4206240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Fig. 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508760" y="4133088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63624" y="4206240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Website / app mockup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94760" y="4133088"/>
            <a:ext cx="4709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9624" y="4206240"/>
            <a:ext cx="4599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How the product could be shown or sold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503920" y="4133088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58784" y="4206240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Visual / commercial direction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94360" y="4636008"/>
            <a:ext cx="91440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" y="4709160"/>
            <a:ext cx="804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Fig. 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508760" y="4636008"/>
            <a:ext cx="228600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63624" y="4709160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Prototype photo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794760" y="4636008"/>
            <a:ext cx="470916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9624" y="4709160"/>
            <a:ext cx="4599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What the first MVP should prove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503920" y="4636008"/>
            <a:ext cx="310896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58784" y="4709160"/>
            <a:ext cx="2999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MVP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85800" y="5669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222"/>
                </a:solidFill>
              </a:rPr>
              <a:t>Tip: do not upload loose images without names. Put them in one visual evidence file.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for NotebookLM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Paste this and adapt the project name.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10835640" cy="4251960"/>
          </a:xfrm>
          <a:prstGeom prst="roundRect">
            <a:avLst>
              <a:gd name="adj" fmla="val 172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  <a:effectLst>
            <a:outerShdw blurRad="15240" dist="1016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965960"/>
            <a:ext cx="10287000" cy="3611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r>
              <a:rPr lang="en-US" sz="1160" dirty="0">
                <a:solidFill>
                  <a:srgbClr val="F2F2F2"/>
                </a:solidFill>
              </a:rPr>
              <a:t>Using only the sources uploaded to this notebook, create a Session 2 report titled “Concept and Requirements”.</a:t>
            </a:r>
          </a:p>
          <a:p>
            <a:endParaRPr lang="en-US" sz="1160" dirty="0">
              <a:solidFill>
                <a:srgbClr val="F2F2F2"/>
              </a:solidFill>
            </a:endParaRPr>
          </a:p>
          <a:p>
            <a:r>
              <a:rPr lang="en-US" sz="1160" dirty="0">
                <a:solidFill>
                  <a:srgbClr val="F2F2F2"/>
                </a:solidFill>
              </a:rPr>
              <a:t>Base the report on the index we created in Session 1.</a:t>
            </a:r>
          </a:p>
          <a:p>
            <a:endParaRPr lang="en-US" sz="1160" dirty="0">
              <a:solidFill>
                <a:srgbClr val="F2F2F2"/>
              </a:solidFill>
            </a:endParaRPr>
          </a:p>
          <a:p>
            <a:r>
              <a:rPr lang="en-US" sz="1160" dirty="0">
                <a:solidFill>
                  <a:srgbClr val="F2F2F2"/>
                </a:solidFill>
              </a:rPr>
              <a:t>The report must include:</a:t>
            </a:r>
          </a:p>
          <a:p>
            <a:r>
              <a:rPr lang="en-US" sz="1160" dirty="0">
                <a:solidFill>
                  <a:srgbClr val="F2F2F2"/>
                </a:solidFill>
              </a:rPr>
              <a:t>1. Project Overview</a:t>
            </a:r>
          </a:p>
          <a:p>
            <a:r>
              <a:rPr lang="en-US" sz="1160" dirty="0">
                <a:solidFill>
                  <a:srgbClr val="F2F2F2"/>
                </a:solidFill>
              </a:rPr>
              <a:t>2. User and Context</a:t>
            </a:r>
          </a:p>
          <a:p>
            <a:r>
              <a:rPr lang="en-US" sz="1160" dirty="0">
                <a:solidFill>
                  <a:srgbClr val="F2F2F2"/>
                </a:solidFill>
              </a:rPr>
              <a:t>3. Problem Statement</a:t>
            </a:r>
          </a:p>
          <a:p>
            <a:r>
              <a:rPr lang="en-US" sz="1160" dirty="0">
                <a:solidFill>
                  <a:srgbClr val="F2F2F2"/>
                </a:solidFill>
              </a:rPr>
              <a:t>4. Value Proposition</a:t>
            </a:r>
          </a:p>
          <a:p>
            <a:r>
              <a:rPr lang="en-US" sz="1160" dirty="0">
                <a:solidFill>
                  <a:srgbClr val="F2F2F2"/>
                </a:solidFill>
              </a:rPr>
              <a:t>5. Concept Direction</a:t>
            </a:r>
          </a:p>
          <a:p>
            <a:r>
              <a:rPr lang="en-US" sz="1160" dirty="0">
                <a:solidFill>
                  <a:srgbClr val="F2F2F2"/>
                </a:solidFill>
              </a:rPr>
              <a:t>6. Technical Direction for the manufacturer report</a:t>
            </a:r>
          </a:p>
          <a:p>
            <a:r>
              <a:rPr lang="en-US" sz="1160" dirty="0">
                <a:solidFill>
                  <a:srgbClr val="F2F2F2"/>
                </a:solidFill>
              </a:rPr>
              <a:t>7. Visual / Commercial Direction for the user-facing report</a:t>
            </a:r>
          </a:p>
          <a:p>
            <a:r>
              <a:rPr lang="en-US" sz="1160" dirty="0">
                <a:solidFill>
                  <a:srgbClr val="F2F2F2"/>
                </a:solidFill>
              </a:rPr>
              <a:t>8. Requirements Table</a:t>
            </a:r>
          </a:p>
          <a:p>
            <a:r>
              <a:rPr lang="en-US" sz="1160" dirty="0">
                <a:solidFill>
                  <a:srgbClr val="F2F2F2"/>
                </a:solidFill>
              </a:rPr>
              <a:t>9. MVP Definition</a:t>
            </a:r>
          </a:p>
          <a:p>
            <a:r>
              <a:rPr lang="en-US" sz="1160" dirty="0">
                <a:solidFill>
                  <a:srgbClr val="F2F2F2"/>
                </a:solidFill>
              </a:rPr>
              <a:t>10. Missing Information</a:t>
            </a:r>
          </a:p>
          <a:p>
            <a:r>
              <a:rPr lang="en-US" sz="1160" dirty="0">
                <a:solidFill>
                  <a:srgbClr val="F2F2F2"/>
                </a:solidFill>
              </a:rPr>
              <a:t>11. Next Steps</a:t>
            </a:r>
          </a:p>
          <a:p>
            <a:endParaRPr lang="en-US" sz="1160" dirty="0">
              <a:solidFill>
                <a:srgbClr val="F2F2F2"/>
              </a:solidFill>
            </a:endParaRPr>
          </a:p>
          <a:p>
            <a:r>
              <a:rPr lang="en-US" sz="1160" dirty="0">
                <a:solidFill>
                  <a:srgbClr val="F2F2F2"/>
                </a:solidFill>
              </a:rPr>
              <a:t>The requirements table must include:</a:t>
            </a:r>
          </a:p>
          <a:p>
            <a:r>
              <a:rPr lang="en-US" sz="1160" dirty="0">
                <a:solidFill>
                  <a:srgbClr val="F2F2F2"/>
                </a:solidFill>
              </a:rPr>
              <a:t>Requirement, Category, Why is it important?, Technical success criteria, Visual / commercial translation, and Evidence needed.</a:t>
            </a:r>
          </a:p>
          <a:p>
            <a:endParaRPr lang="en-US" sz="1160" dirty="0">
              <a:solidFill>
                <a:srgbClr val="F2F2F2"/>
              </a:solidFill>
            </a:endParaRPr>
          </a:p>
          <a:p>
            <a:r>
              <a:rPr lang="en-US" sz="1160" dirty="0">
                <a:solidFill>
                  <a:srgbClr val="F2F2F2"/>
                </a:solidFill>
              </a:rPr>
              <a:t>Do not invent information. If something is missing, write “to be defined” or “needs evidence”.</a:t>
            </a:r>
            <a:endParaRPr lang="en-US" sz="11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table: what each row needs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This is the main evidence of Session 2.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2743200" cy="384048"/>
          </a:xfrm>
          <a:prstGeom prst="rect">
            <a:avLst/>
          </a:prstGeom>
          <a:solidFill>
            <a:srgbClr val="0E7C7B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81051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Column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8275320" cy="384048"/>
          </a:xfrm>
          <a:prstGeom prst="rect">
            <a:avLst/>
          </a:prstGeom>
          <a:solidFill>
            <a:srgbClr val="0E7C7B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810512"/>
            <a:ext cx="8165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What students should write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94360" y="212140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194560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Requirement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3337560" y="2121408"/>
            <a:ext cx="8275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2194560"/>
            <a:ext cx="8165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What the product must do or communicate.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94360" y="2624328"/>
            <a:ext cx="274320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697480"/>
            <a:ext cx="2633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Category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3337560" y="2624328"/>
            <a:ext cx="8275320" cy="50292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2697480"/>
            <a:ext cx="8165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User, functional, technical, ergonomic, production, safety, sustainability or market.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594360" y="3127248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200400"/>
            <a:ext cx="2633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Why it matters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337560" y="3127248"/>
            <a:ext cx="8275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3200400"/>
            <a:ext cx="8165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Why this requirement is important for the user, product or context.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94360" y="3721608"/>
            <a:ext cx="2743200" cy="658368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794760"/>
            <a:ext cx="2633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Technical success criteria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3337560" y="3721608"/>
            <a:ext cx="8275320" cy="658368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3794760"/>
            <a:ext cx="8165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How it will be checked later: size, weight, time, load, resistance, comfort, etc.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594360" y="4379976"/>
            <a:ext cx="2743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4453128"/>
            <a:ext cx="2633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Visual / commercial translation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3337560" y="4379976"/>
            <a:ext cx="8275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4453128"/>
            <a:ext cx="8165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How this requirement should be shown to the final user.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94360" y="4974336"/>
            <a:ext cx="2743200" cy="64008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5047488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Evidence needed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3337560" y="4974336"/>
            <a:ext cx="8275320" cy="640080"/>
          </a:xfrm>
          <a:prstGeom prst="rect">
            <a:avLst/>
          </a:prstGeom>
          <a:solidFill>
            <a:srgbClr val="F5F3EC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2424" y="5047488"/>
            <a:ext cx="8165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22222"/>
                </a:solidFill>
              </a:rPr>
              <a:t>What proof must be created: photos, tests, dimensions, diagrams, renders, mockups or references.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685800" y="5779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6A3D"/>
                </a:solidFill>
              </a:rPr>
              <a:t>Minimum: 12–15 requirements per team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886200" y="57972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666"/>
                </a:solidFill>
              </a:rPr>
              <a:t>Include user, functional, technical, ergonomic, production, safety, sustainability and market/communication requirements.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checklist</a:t>
            </a:r>
            <a:endParaRPr lang="en-US" sz="3000" dirty="0"/>
          </a:p>
        </p:txBody>
      </p:sp>
      <p:graphicFrame>
        <p:nvGraphicFramePr>
          <p:cNvPr id="65" name="Tabla 64">
            <a:extLst>
              <a:ext uri="{FF2B5EF4-FFF2-40B4-BE49-F238E27FC236}">
                <a16:creationId xmlns:a16="http://schemas.microsoft.com/office/drawing/2014/main" id="{4C6C54F5-9A70-BE4F-867B-82FF1A34F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67939"/>
              </p:ext>
            </p:extLst>
          </p:nvPr>
        </p:nvGraphicFramePr>
        <p:xfrm>
          <a:off x="502920" y="1249892"/>
          <a:ext cx="11155679" cy="4930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0353">
                  <a:extLst>
                    <a:ext uri="{9D8B030D-6E8A-4147-A177-3AD203B41FA5}">
                      <a16:colId xmlns:a16="http://schemas.microsoft.com/office/drawing/2014/main" val="3671461469"/>
                    </a:ext>
                  </a:extLst>
                </a:gridCol>
                <a:gridCol w="2927927">
                  <a:extLst>
                    <a:ext uri="{9D8B030D-6E8A-4147-A177-3AD203B41FA5}">
                      <a16:colId xmlns:a16="http://schemas.microsoft.com/office/drawing/2014/main" val="4239256403"/>
                    </a:ext>
                  </a:extLst>
                </a:gridCol>
                <a:gridCol w="5867399">
                  <a:extLst>
                    <a:ext uri="{9D8B030D-6E8A-4147-A177-3AD203B41FA5}">
                      <a16:colId xmlns:a16="http://schemas.microsoft.com/office/drawing/2014/main" val="1753583720"/>
                    </a:ext>
                  </a:extLst>
                </a:gridCol>
              </a:tblGrid>
              <a:tr h="238316">
                <a:tc>
                  <a:txBody>
                    <a:bodyPr/>
                    <a:lstStyle/>
                    <a:p>
                      <a:r>
                        <a:rPr lang="es-ES" sz="1600" dirty="0" err="1"/>
                        <a:t>Section</a:t>
                      </a:r>
                      <a:endParaRPr lang="es-E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9869" marR="19869" marT="9935" marB="993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/>
                        <a:t>What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it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should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include</a:t>
                      </a:r>
                      <a:endParaRPr lang="es-E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9869" marR="19869" marT="9935" marB="993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/>
                        <a:t>Checklist</a:t>
                      </a:r>
                      <a:endParaRPr lang="es-ES" sz="1600" dirty="0">
                        <a:solidFill>
                          <a:schemeClr val="tx1"/>
                        </a:solidFill>
                      </a:endParaRPr>
                    </a:p>
                  </a:txBody>
                  <a:tcPr marL="19869" marR="19869" marT="9935" marB="9935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992906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1. </a:t>
                      </a:r>
                      <a:r>
                        <a:rPr lang="es-ES" sz="1050" dirty="0" err="1"/>
                        <a:t>Cover</a:t>
                      </a:r>
                      <a:r>
                        <a:rPr lang="es-ES" sz="1050" dirty="0"/>
                        <a:t> / </a:t>
                      </a:r>
                      <a:r>
                        <a:rPr lang="es-ES" sz="1050" dirty="0" err="1"/>
                        <a:t>Header</a:t>
                      </a:r>
                      <a:endParaRPr lang="es-ES" sz="1050" dirty="0"/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Project </a:t>
                      </a:r>
                      <a:r>
                        <a:rPr lang="es-ES" sz="1050" dirty="0" err="1"/>
                        <a:t>name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team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members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course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name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session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number</a:t>
                      </a:r>
                      <a:r>
                        <a:rPr lang="es-ES" sz="1050" dirty="0"/>
                        <a:t> and date.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Project </a:t>
                      </a:r>
                      <a:r>
                        <a:rPr lang="es-ES" sz="1050" dirty="0" err="1"/>
                        <a:t>name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Team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members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Course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name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Session</a:t>
                      </a:r>
                      <a:r>
                        <a:rPr lang="es-ES" sz="1050" dirty="0"/>
                        <a:t> 2. Date. </a:t>
                      </a: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image</a:t>
                      </a:r>
                      <a:r>
                        <a:rPr lang="es-ES" sz="1050" dirty="0"/>
                        <a:t>, sketch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render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071605"/>
                  </a:ext>
                </a:extLst>
              </a:tr>
              <a:tr h="222771"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2. Project </a:t>
                      </a:r>
                      <a:r>
                        <a:rPr lang="es-ES" sz="1050" dirty="0" err="1"/>
                        <a:t>Overview</a:t>
                      </a:r>
                      <a:endParaRPr lang="es-ES" sz="1050" dirty="0"/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A short explanation of what the product is.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product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Who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for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problem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solves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Where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when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used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440669"/>
                  </a:ext>
                </a:extLst>
              </a:tr>
              <a:tr h="222771"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3. User and </a:t>
                      </a:r>
                      <a:r>
                        <a:rPr lang="es-ES" sz="1050" dirty="0" err="1"/>
                        <a:t>Context</a:t>
                      </a:r>
                      <a:endParaRPr lang="es-ES" sz="1050" dirty="0"/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 err="1"/>
                        <a:t>Description</a:t>
                      </a:r>
                      <a:r>
                        <a:rPr lang="es-ES" sz="1050" dirty="0"/>
                        <a:t> of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user</a:t>
                      </a:r>
                      <a:r>
                        <a:rPr lang="es-ES" sz="1050" dirty="0"/>
                        <a:t> and use </a:t>
                      </a:r>
                      <a:r>
                        <a:rPr lang="es-ES" sz="1050" dirty="0" err="1"/>
                        <a:t>situation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Target </a:t>
                      </a:r>
                      <a:r>
                        <a:rPr lang="es-ES" sz="1050" dirty="0" err="1"/>
                        <a:t>user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Approximate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age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profile</a:t>
                      </a:r>
                      <a:r>
                        <a:rPr lang="es-ES" sz="1050" dirty="0"/>
                        <a:t>. User </a:t>
                      </a:r>
                      <a:r>
                        <a:rPr lang="es-ES" sz="1050" dirty="0" err="1"/>
                        <a:t>activities</a:t>
                      </a:r>
                      <a:r>
                        <a:rPr lang="es-ES" sz="1050" dirty="0"/>
                        <a:t>. Use </a:t>
                      </a:r>
                      <a:r>
                        <a:rPr lang="es-ES" sz="1050" dirty="0" err="1"/>
                        <a:t>context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user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needs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397081"/>
                  </a:ext>
                </a:extLst>
              </a:tr>
              <a:tr h="222771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4. Problem Statement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Clear </a:t>
                      </a:r>
                      <a:r>
                        <a:rPr lang="es-ES" sz="1050" dirty="0" err="1"/>
                        <a:t>explanation</a:t>
                      </a:r>
                      <a:r>
                        <a:rPr lang="es-ES" sz="1050" dirty="0"/>
                        <a:t> of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problem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Clear </a:t>
                      </a:r>
                      <a:r>
                        <a:rPr lang="es-ES" sz="1050" dirty="0" err="1"/>
                        <a:t>problem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Current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situation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problem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matters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difficulty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friction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696372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5. Value Proposition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 err="1"/>
                        <a:t>Explanation</a:t>
                      </a:r>
                      <a:r>
                        <a:rPr lang="es-ES" sz="1050" dirty="0"/>
                        <a:t> of </a:t>
                      </a:r>
                      <a:r>
                        <a:rPr lang="es-ES" sz="1050" dirty="0" err="1"/>
                        <a:t>why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product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valuable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different</a:t>
                      </a:r>
                      <a:r>
                        <a:rPr lang="es-ES" sz="1050" dirty="0"/>
                        <a:t> and </a:t>
                      </a:r>
                      <a:r>
                        <a:rPr lang="es-ES" sz="1050" dirty="0" err="1"/>
                        <a:t>desirable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benefit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Difference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from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existing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products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user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would</a:t>
                      </a:r>
                      <a:r>
                        <a:rPr lang="es-ES" sz="1050" dirty="0"/>
                        <a:t> use </a:t>
                      </a:r>
                      <a:r>
                        <a:rPr lang="es-ES" sz="1050" dirty="0" err="1"/>
                        <a:t>it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user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would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buy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it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423084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6. Concept Direction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 err="1"/>
                        <a:t>Design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intention</a:t>
                      </a:r>
                      <a:r>
                        <a:rPr lang="es-ES" sz="1050" dirty="0"/>
                        <a:t>, visual </a:t>
                      </a:r>
                      <a:r>
                        <a:rPr lang="es-ES" sz="1050" dirty="0" err="1"/>
                        <a:t>references</a:t>
                      </a:r>
                      <a:r>
                        <a:rPr lang="es-ES" sz="1050" dirty="0"/>
                        <a:t> and </a:t>
                      </a:r>
                      <a:r>
                        <a:rPr lang="es-ES" sz="1050" dirty="0" err="1"/>
                        <a:t>product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personality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concept idea. </a:t>
                      </a:r>
                      <a:r>
                        <a:rPr lang="es-ES" sz="1050" dirty="0" err="1"/>
                        <a:t>Moodboard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references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Initial</a:t>
                      </a:r>
                      <a:r>
                        <a:rPr lang="es-ES" sz="1050" dirty="0"/>
                        <a:t> color </a:t>
                      </a:r>
                      <a:r>
                        <a:rPr lang="es-ES" sz="1050" dirty="0" err="1"/>
                        <a:t>palette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Product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attributes</a:t>
                      </a:r>
                      <a:r>
                        <a:rPr lang="es-ES" sz="1050" dirty="0"/>
                        <a:t>. Visual </a:t>
                      </a:r>
                      <a:r>
                        <a:rPr lang="es-ES" sz="1050" dirty="0" err="1"/>
                        <a:t>tone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06042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7. </a:t>
                      </a:r>
                      <a:r>
                        <a:rPr lang="es-ES" sz="1050" dirty="0" err="1"/>
                        <a:t>Technical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Direction</a:t>
                      </a:r>
                      <a:endParaRPr lang="es-ES" sz="1050" dirty="0"/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 err="1"/>
                        <a:t>Direction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future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manufacturer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report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Possible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materials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parts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Mechanisms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connections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Dimensions</a:t>
                      </a:r>
                      <a:r>
                        <a:rPr lang="es-ES" sz="1050" dirty="0"/>
                        <a:t> to define. </a:t>
                      </a:r>
                      <a:r>
                        <a:rPr lang="es-ES" sz="1050" dirty="0" err="1"/>
                        <a:t>Possible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production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processes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Assembly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logic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Maintenance</a:t>
                      </a:r>
                      <a:r>
                        <a:rPr lang="es-ES" sz="1050" dirty="0"/>
                        <a:t>. Safety </a:t>
                      </a:r>
                      <a:r>
                        <a:rPr lang="es-ES" sz="1050" dirty="0" err="1"/>
                        <a:t>considerations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865389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8. Visual / Commercial Direction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 err="1"/>
                        <a:t>Direction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future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user-facing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report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Type</a:t>
                      </a:r>
                      <a:r>
                        <a:rPr lang="es-ES" sz="1050" dirty="0"/>
                        <a:t> of visual </a:t>
                      </a:r>
                      <a:r>
                        <a:rPr lang="es-ES" sz="1050" dirty="0" err="1"/>
                        <a:t>deliverable</a:t>
                      </a:r>
                      <a:r>
                        <a:rPr lang="es-ES" sz="1050" dirty="0"/>
                        <a:t>: </a:t>
                      </a:r>
                      <a:r>
                        <a:rPr lang="es-ES" sz="1050" dirty="0" err="1"/>
                        <a:t>website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landing</a:t>
                      </a:r>
                      <a:r>
                        <a:rPr lang="es-ES" sz="1050" dirty="0"/>
                        <a:t> page, shopping page, app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configurator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Images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needed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benefits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communicate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How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product</a:t>
                      </a:r>
                      <a:r>
                        <a:rPr lang="es-ES" sz="1050" dirty="0"/>
                        <a:t> use </a:t>
                      </a:r>
                      <a:r>
                        <a:rPr lang="es-ES" sz="1050" dirty="0" err="1"/>
                        <a:t>will</a:t>
                      </a:r>
                      <a:r>
                        <a:rPr lang="es-ES" sz="1050" dirty="0"/>
                        <a:t> be </a:t>
                      </a:r>
                      <a:r>
                        <a:rPr lang="es-ES" sz="1050" dirty="0" err="1"/>
                        <a:t>explained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How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purchase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customization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will</a:t>
                      </a:r>
                      <a:r>
                        <a:rPr lang="es-ES" sz="1050" dirty="0"/>
                        <a:t> be </a:t>
                      </a:r>
                      <a:r>
                        <a:rPr lang="es-ES" sz="1050" dirty="0" err="1"/>
                        <a:t>shown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235134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9. Requirements Table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table</a:t>
                      </a:r>
                      <a:r>
                        <a:rPr lang="es-ES" sz="1050" dirty="0"/>
                        <a:t> of </a:t>
                      </a:r>
                      <a:r>
                        <a:rPr lang="es-ES" sz="1050" dirty="0" err="1"/>
                        <a:t>product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User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Functional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Technical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Ergonomic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Production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 Safety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Sustainability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Market</a:t>
                      </a:r>
                      <a:r>
                        <a:rPr lang="es-ES" sz="1050" dirty="0"/>
                        <a:t> / </a:t>
                      </a:r>
                      <a:r>
                        <a:rPr lang="es-ES" sz="1050" dirty="0" err="1"/>
                        <a:t>communication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requirements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046290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10. Success Criteria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 dirty="0" err="1"/>
                        <a:t>How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each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will</a:t>
                      </a:r>
                      <a:r>
                        <a:rPr lang="es-ES" sz="1050" dirty="0"/>
                        <a:t> be </a:t>
                      </a:r>
                      <a:r>
                        <a:rPr lang="es-ES" sz="1050" dirty="0" err="1"/>
                        <a:t>checked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Each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requirement</a:t>
                      </a:r>
                      <a:r>
                        <a:rPr lang="es-ES" sz="1050" dirty="0"/>
                        <a:t> has a </a:t>
                      </a:r>
                      <a:r>
                        <a:rPr lang="es-ES" sz="1050" dirty="0" err="1"/>
                        <a:t>way</a:t>
                      </a:r>
                      <a:r>
                        <a:rPr lang="es-ES" sz="1050" dirty="0"/>
                        <a:t> to be </a:t>
                      </a:r>
                      <a:r>
                        <a:rPr lang="es-ES" sz="1050" dirty="0" err="1"/>
                        <a:t>verified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Includes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measurable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observable </a:t>
                      </a:r>
                      <a:r>
                        <a:rPr lang="es-ES" sz="1050" dirty="0" err="1"/>
                        <a:t>criteria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such</a:t>
                      </a:r>
                      <a:r>
                        <a:rPr lang="es-ES" sz="1050" dirty="0"/>
                        <a:t> as </a:t>
                      </a:r>
                      <a:r>
                        <a:rPr lang="es-ES" sz="1050" dirty="0" err="1"/>
                        <a:t>size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weight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resistance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comfort</a:t>
                      </a:r>
                      <a:r>
                        <a:rPr lang="es-ES" sz="1050" dirty="0"/>
                        <a:t>, time, </a:t>
                      </a:r>
                      <a:r>
                        <a:rPr lang="es-ES" sz="1050" dirty="0" err="1"/>
                        <a:t>ease</a:t>
                      </a:r>
                      <a:r>
                        <a:rPr lang="es-ES" sz="1050" dirty="0"/>
                        <a:t> of use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expected</a:t>
                      </a:r>
                      <a:r>
                        <a:rPr lang="es-ES" sz="1050" dirty="0"/>
                        <a:t> test.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869719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11. Evidence Needed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Evidence that will be created in later sessions.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Photos</a:t>
                      </a:r>
                      <a:r>
                        <a:rPr lang="es-ES" sz="1050" dirty="0"/>
                        <a:t>. Sketches. </a:t>
                      </a:r>
                      <a:r>
                        <a:rPr lang="es-ES" sz="1050" dirty="0" err="1"/>
                        <a:t>Renders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Diagrams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Tests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Measurements</a:t>
                      </a:r>
                      <a:r>
                        <a:rPr lang="es-ES" sz="1050" dirty="0"/>
                        <a:t>. Material </a:t>
                      </a:r>
                      <a:r>
                        <a:rPr lang="es-ES" sz="1050" dirty="0" err="1"/>
                        <a:t>references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Benchmarks</a:t>
                      </a:r>
                      <a:r>
                        <a:rPr lang="es-ES" sz="1050" dirty="0"/>
                        <a:t>. User </a:t>
                      </a:r>
                      <a:r>
                        <a:rPr lang="es-ES" sz="1050" dirty="0" err="1"/>
                        <a:t>feedback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009699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12. MVP Definition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What the first functional version must include.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Main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function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MVP </a:t>
                      </a:r>
                      <a:r>
                        <a:rPr lang="es-ES" sz="1050" dirty="0" err="1"/>
                        <a:t>includes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the</a:t>
                      </a:r>
                      <a:r>
                        <a:rPr lang="es-ES" sz="1050" dirty="0"/>
                        <a:t> MVP </a:t>
                      </a:r>
                      <a:r>
                        <a:rPr lang="es-ES" sz="1050" dirty="0" err="1"/>
                        <a:t>does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not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include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yet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will</a:t>
                      </a:r>
                      <a:r>
                        <a:rPr lang="es-ES" sz="1050" dirty="0"/>
                        <a:t> be </a:t>
                      </a:r>
                      <a:r>
                        <a:rPr lang="es-ES" sz="1050" dirty="0" err="1"/>
                        <a:t>tested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first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652918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13. Missing Information</a:t>
                      </a:r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Information the team still needs to find, define or test.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 err="1"/>
                        <a:t>Missing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dimensions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Materials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confirm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Processes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research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Costs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estimate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Tests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design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Missing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images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diagrams</a:t>
                      </a:r>
                      <a:r>
                        <a:rPr lang="es-ES" sz="1050" dirty="0"/>
                        <a:t>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726969"/>
                  </a:ext>
                </a:extLst>
              </a:tr>
              <a:tr h="327646">
                <a:tc>
                  <a:txBody>
                    <a:bodyPr/>
                    <a:lstStyle/>
                    <a:p>
                      <a:pPr algn="l"/>
                      <a:r>
                        <a:rPr lang="es-ES" sz="1050" dirty="0"/>
                        <a:t>14. </a:t>
                      </a:r>
                      <a:r>
                        <a:rPr lang="es-ES" sz="1050" dirty="0" err="1"/>
                        <a:t>Next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Steps</a:t>
                      </a:r>
                      <a:endParaRPr lang="es-ES" sz="1050" dirty="0"/>
                    </a:p>
                  </a:txBody>
                  <a:tcPr marL="19869" marR="19869" marT="9935" marB="9935" anchor="ctr"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50"/>
                        <a:t>Concrete actions before the next session.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dirty="0"/>
                        <a:t>5 to 7 </a:t>
                      </a:r>
                      <a:r>
                        <a:rPr lang="es-ES" sz="1050" dirty="0" err="1"/>
                        <a:t>clear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actions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research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draw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to </a:t>
                      </a:r>
                      <a:r>
                        <a:rPr lang="es-ES" sz="1050" dirty="0" err="1"/>
                        <a:t>measure</a:t>
                      </a:r>
                      <a:r>
                        <a:rPr lang="es-ES" sz="1050" dirty="0"/>
                        <a:t>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to test. </a:t>
                      </a:r>
                      <a:r>
                        <a:rPr lang="es-ES" sz="1050" dirty="0" err="1"/>
                        <a:t>What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image</a:t>
                      </a:r>
                      <a:r>
                        <a:rPr lang="es-ES" sz="1050" dirty="0"/>
                        <a:t>, </a:t>
                      </a:r>
                      <a:r>
                        <a:rPr lang="es-ES" sz="1050" dirty="0" err="1"/>
                        <a:t>render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or</a:t>
                      </a:r>
                      <a:r>
                        <a:rPr lang="es-ES" sz="1050" dirty="0"/>
                        <a:t> </a:t>
                      </a:r>
                      <a:r>
                        <a:rPr lang="es-ES" sz="1050" dirty="0" err="1"/>
                        <a:t>diagram</a:t>
                      </a:r>
                      <a:r>
                        <a:rPr lang="es-ES" sz="1050" dirty="0"/>
                        <a:t> to prepare.</a:t>
                      </a:r>
                    </a:p>
                  </a:txBody>
                  <a:tcPr marL="19869" marR="19869" marT="9935" marB="9935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5463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240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one requirement row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Use this level of clarity; avoid vague words like “nice”, “cool” or “resistant” without proof.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2240280" cy="365760"/>
          </a:xfrm>
          <a:prstGeom prst="rect">
            <a:avLst/>
          </a:prstGeom>
          <a:solidFill>
            <a:srgbClr val="F26A3D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85623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Requirement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1783080"/>
            <a:ext cx="1417320" cy="365760"/>
          </a:xfrm>
          <a:prstGeom prst="rect">
            <a:avLst/>
          </a:prstGeom>
          <a:solidFill>
            <a:srgbClr val="F26A3D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856232"/>
            <a:ext cx="1307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Category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1783080"/>
            <a:ext cx="2057400" cy="365760"/>
          </a:xfrm>
          <a:prstGeom prst="rect">
            <a:avLst/>
          </a:prstGeom>
          <a:solidFill>
            <a:srgbClr val="F26A3D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85623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it matters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solidFill>
            <a:srgbClr val="F26A3D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8562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Success criteria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03920" y="1783080"/>
            <a:ext cx="2148840" cy="365760"/>
          </a:xfrm>
          <a:prstGeom prst="rect">
            <a:avLst/>
          </a:prstGeom>
          <a:solidFill>
            <a:srgbClr val="F26A3D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185623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Visual translation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652760" y="1783080"/>
            <a:ext cx="960120" cy="365760"/>
          </a:xfrm>
          <a:prstGeom prst="rect">
            <a:avLst/>
          </a:prstGeom>
          <a:solidFill>
            <a:srgbClr val="F26A3D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07624" y="185623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22402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221992"/>
            <a:ext cx="2130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</a:rPr>
              <a:t>The product must remain stable during movement.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834640" y="2148840"/>
            <a:ext cx="1417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9504" y="2221992"/>
            <a:ext cx="13075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</a:rPr>
              <a:t>Technical / user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251960" y="2148840"/>
            <a:ext cx="2057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2221992"/>
            <a:ext cx="1947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</a:rPr>
              <a:t>The user will move while carrying, wearing or attaching the product.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309360" y="2148840"/>
            <a:ext cx="21945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2221992"/>
            <a:ext cx="20848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</a:rPr>
              <a:t>It does not detach, block movement or move excessively during a basic movement test.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503920" y="2148840"/>
            <a:ext cx="21488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58784" y="2221992"/>
            <a:ext cx="20391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</a:rPr>
              <a:t>Show the product in real use: walking, skating, biking, commuting or outdoor activity.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652760" y="2148840"/>
            <a:ext cx="960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07624" y="2221992"/>
            <a:ext cx="8503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22222"/>
                </a:solidFill>
              </a:rPr>
              <a:t>Video test, photos, feedback.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77240" y="374904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3749040"/>
            <a:ext cx="73152" cy="960120"/>
          </a:xfrm>
          <a:prstGeom prst="rect">
            <a:avLst/>
          </a:prstGeom>
          <a:solidFill>
            <a:srgbClr val="6F4EB5"/>
          </a:solidFill>
          <a:ln w="12700">
            <a:solidFill>
              <a:srgbClr val="6F4E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39136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Weak requirement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5840" y="4251960"/>
            <a:ext cx="2697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“The product should be resistant.”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89120" y="3749040"/>
            <a:ext cx="3383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89120" y="3749040"/>
            <a:ext cx="73152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39136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Better requirement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17720" y="4251960"/>
            <a:ext cx="2971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“The module must resist X weight or X movement test without detaching.”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229600" y="374904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3749040"/>
            <a:ext cx="73152" cy="960120"/>
          </a:xfrm>
          <a:prstGeom prst="rect">
            <a:avLst/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39136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Best next step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458200" y="4251960"/>
            <a:ext cx="2423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Define what X is and what evidence will prove 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images should support the report?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Each image should prove or explain something. Do not use images only as decoration.</a:t>
            </a:r>
            <a:endParaRPr lang="en-US" sz="1300" dirty="0"/>
          </a:p>
        </p:txBody>
      </p:sp>
      <p:pic>
        <p:nvPicPr>
          <p:cNvPr id="8" name="Image 0" descr="/mnt/data/a_clean_well_lit_workspace_desk_scene_with_a_larg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365760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17720" y="1737360"/>
            <a:ext cx="6903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737360"/>
            <a:ext cx="73152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90195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Product image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46320" y="2240280"/>
            <a:ext cx="64922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Best render, sketch or prototype photo for the overview.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17720" y="2578608"/>
            <a:ext cx="6903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578608"/>
            <a:ext cx="73152" cy="685800"/>
          </a:xfrm>
          <a:prstGeom prst="rect">
            <a:avLst/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274320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User context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46320" y="3081528"/>
            <a:ext cx="64922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Photo, collage or scenario showing where the product is used.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17720" y="3419856"/>
            <a:ext cx="6903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3419856"/>
            <a:ext cx="73152" cy="685800"/>
          </a:xfrm>
          <a:prstGeom prst="rect">
            <a:avLst/>
          </a:prstGeom>
          <a:solidFill>
            <a:srgbClr val="6F4EB5"/>
          </a:solidFill>
          <a:ln w="12700">
            <a:solidFill>
              <a:srgbClr val="6F4E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358444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Concept direction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46320" y="3922776"/>
            <a:ext cx="64922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Moodboard, material references, color palette and design attributes.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17720" y="4261104"/>
            <a:ext cx="6903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4261104"/>
            <a:ext cx="73152" cy="685800"/>
          </a:xfrm>
          <a:prstGeom prst="rect">
            <a:avLst/>
          </a:prstGeom>
          <a:solidFill>
            <a:srgbClr val="F4D35E"/>
          </a:solidFill>
          <a:ln w="12700">
            <a:solidFill>
              <a:srgbClr val="F4D3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442569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Technical direction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846320" y="4764024"/>
            <a:ext cx="64922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Parts sketch, exploded view, mechanism diagram or material references.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617720" y="5102352"/>
            <a:ext cx="6903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4E0D5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17720" y="5102352"/>
            <a:ext cx="73152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52669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Visual report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846320" y="5605272"/>
            <a:ext cx="64922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Website, shopping page, app or configurator mockup.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663440" y="58978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</a:rPr>
              <a:t>Label images as Figure 1, Figure 2, etc. and write a short caption.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66666"/>
                </a:solidFill>
              </a:rPr>
              <a:t>Specification of Products and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</a:rPr>
              <a:t>Session 2 · Concept and Requirements ·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835640" y="6528816"/>
            <a:ext cx="822960" cy="0"/>
          </a:xfrm>
          <a:prstGeom prst="line">
            <a:avLst/>
          </a:prstGeom>
          <a:noFill/>
          <a:ln w="19050">
            <a:solidFill>
              <a:srgbClr val="F26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7589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2 submission checklist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7543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</a:rPr>
              <a:t>The report must show direction, criteria and evidence plan — not final production content yet.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662940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Overview: clear in 3–5 lines.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User and context: specific, not generic.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Value proposition: useful + different + desirable.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Technical direction: what the manufacturer report will need later.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Visual/commercial direction: how the user will understand and want the product.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Requirements table: 12–15 rows with success criteria and evidence needed.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MVP: what the first version must prove.</a:t>
            </a:r>
            <a:endParaRPr lang="en-US" sz="1550" dirty="0"/>
          </a:p>
          <a:p>
            <a:pPr marL="152400" indent="-1524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</a:rPr>
              <a:t>Missing information + next steps: honest and specific.</a:t>
            </a:r>
          </a:p>
          <a:p>
            <a:pPr marL="152400" indent="-152400">
              <a:buSzPct val="100000"/>
              <a:buChar char="•"/>
            </a:pPr>
            <a:endParaRPr lang="en-US" sz="1200" dirty="0">
              <a:solidFill>
                <a:srgbClr val="222222"/>
              </a:solidFill>
            </a:endParaRPr>
          </a:p>
          <a:p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Session</a:t>
            </a:r>
            <a:r>
              <a:rPr lang="es-ES" sz="1400" dirty="0"/>
              <a:t> 2 </a:t>
            </a:r>
            <a:r>
              <a:rPr lang="es-ES" sz="1400" dirty="0" err="1"/>
              <a:t>report</a:t>
            </a:r>
            <a:r>
              <a:rPr lang="es-ES" sz="1400" dirty="0"/>
              <a:t> </a:t>
            </a:r>
            <a:r>
              <a:rPr lang="es-ES" sz="1400" dirty="0" err="1"/>
              <a:t>must</a:t>
            </a:r>
            <a:r>
              <a:rPr lang="es-ES" sz="1400" dirty="0"/>
              <a:t> </a:t>
            </a:r>
            <a:r>
              <a:rPr lang="es-ES" sz="1400" dirty="0" err="1"/>
              <a:t>have</a:t>
            </a:r>
            <a:r>
              <a:rPr lang="es-ES" sz="1400" dirty="0"/>
              <a:t> </a:t>
            </a:r>
            <a:r>
              <a:rPr lang="es-ES" sz="1400" b="1" dirty="0"/>
              <a:t>8 to 12 </a:t>
            </a:r>
            <a:r>
              <a:rPr lang="es-ES" sz="1400" b="1" dirty="0" err="1"/>
              <a:t>pages</a:t>
            </a:r>
            <a:r>
              <a:rPr lang="es-ES" sz="1400" dirty="0"/>
              <a:t>, </a:t>
            </a:r>
            <a:r>
              <a:rPr lang="es-ES" sz="1400" dirty="0" err="1"/>
              <a:t>including</a:t>
            </a:r>
            <a:r>
              <a:rPr lang="es-ES" sz="1400" dirty="0"/>
              <a:t> </a:t>
            </a:r>
            <a:r>
              <a:rPr lang="es-ES" sz="1400" dirty="0" err="1"/>
              <a:t>text</a:t>
            </a:r>
            <a:r>
              <a:rPr lang="es-ES" sz="1400" dirty="0"/>
              <a:t>, </a:t>
            </a:r>
            <a:r>
              <a:rPr lang="es-ES" sz="1400" dirty="0" err="1"/>
              <a:t>tables</a:t>
            </a:r>
            <a:r>
              <a:rPr lang="es-ES" sz="1400" dirty="0"/>
              <a:t> and visual </a:t>
            </a:r>
            <a:r>
              <a:rPr lang="es-ES" sz="1400" dirty="0" err="1"/>
              <a:t>references</a:t>
            </a:r>
            <a:r>
              <a:rPr lang="es-ES" sz="1400" dirty="0"/>
              <a:t>.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report</a:t>
            </a:r>
            <a:r>
              <a:rPr lang="es-ES" sz="1400" dirty="0"/>
              <a:t> </a:t>
            </a:r>
            <a:r>
              <a:rPr lang="es-ES" sz="1400" dirty="0" err="1"/>
              <a:t>should</a:t>
            </a:r>
            <a:r>
              <a:rPr lang="es-ES" sz="1400" dirty="0"/>
              <a:t> </a:t>
            </a:r>
            <a:r>
              <a:rPr lang="es-ES" sz="1400" dirty="0" err="1"/>
              <a:t>not</a:t>
            </a:r>
            <a:r>
              <a:rPr lang="es-ES" sz="1400" dirty="0"/>
              <a:t> </a:t>
            </a:r>
            <a:r>
              <a:rPr lang="es-ES" sz="1400" dirty="0" err="1"/>
              <a:t>exceed</a:t>
            </a:r>
            <a:r>
              <a:rPr lang="es-ES" sz="1400" dirty="0"/>
              <a:t> </a:t>
            </a:r>
            <a:r>
              <a:rPr lang="es-ES" sz="1400" b="1" dirty="0"/>
              <a:t>15 </a:t>
            </a:r>
            <a:r>
              <a:rPr lang="es-ES" sz="1400" b="1" dirty="0" err="1"/>
              <a:t>pages</a:t>
            </a:r>
            <a:r>
              <a:rPr lang="es-ES" sz="1400" dirty="0"/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7818120" y="173736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Final output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0" y="2651760"/>
            <a:ext cx="24688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BFE8E6"/>
                </a:solidFill>
              </a:rPr>
              <a:t>Concept and Requirements Report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2296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EAEA"/>
                </a:solidFill>
              </a:rPr>
              <a:t>PDF / Notion / Google Doc / Canva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01000" y="544068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26A3D"/>
          </a:solidFill>
          <a:ln w="12700">
            <a:solidFill>
              <a:srgbClr val="F26A3D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10728" y="5518404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 NotebookLM, but edit your final text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2102</Words>
  <Application>Microsoft Macintosh PowerPoint</Application>
  <PresentationFormat>Panorámica</PresentationFormat>
  <Paragraphs>276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2: Concept and Requirements</dc:title>
  <dc:subject>Specification of Products and Services - Session 2</dc:subject>
  <dc:creator>OpenAI</dc:creator>
  <cp:lastModifiedBy>Microsoft Office User</cp:lastModifiedBy>
  <cp:revision>5</cp:revision>
  <dcterms:created xsi:type="dcterms:W3CDTF">2026-05-19T05:41:40Z</dcterms:created>
  <dcterms:modified xsi:type="dcterms:W3CDTF">2026-05-19T16:56:08Z</dcterms:modified>
</cp:coreProperties>
</file>