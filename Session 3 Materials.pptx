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3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13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3_title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566928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5216" y="640080"/>
            <a:ext cx="2542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Specification of Products and Services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530352" y="4251960"/>
            <a:ext cx="68580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3 — Materials, CMF &amp; Productive Direction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669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CF2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requirements to material decisions, finishes, production logic and evidence.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66928" y="5989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F2F1"/>
                </a:solidFill>
              </a:rPr>
              <a:t>Robust Design Sprint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Session 3 fits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6766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</a:rPr>
              <a:t>Session 2 defined what the product must achieve. Session 3 starts defining what it could be made of, how it feels, and how it may be produced.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7D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999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D80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D80"/>
                </a:solidFill>
              </a:rPr>
              <a:t>Session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4251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Concept &amp; Requirements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" y="4672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</a:rPr>
              <a:t>What must it do?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37944" y="3273552"/>
            <a:ext cx="1719072" cy="0"/>
          </a:xfrm>
          <a:prstGeom prst="line">
            <a:avLst/>
          </a:prstGeom>
          <a:noFill/>
          <a:ln w="25400">
            <a:solidFill>
              <a:srgbClr val="D4D0C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11880" y="2743200"/>
            <a:ext cx="1051560" cy="1051560"/>
          </a:xfrm>
          <a:prstGeom prst="ellipse">
            <a:avLst/>
          </a:prstGeom>
          <a:solidFill>
            <a:srgbClr val="F36B3A"/>
          </a:solidFill>
          <a:ln w="25400">
            <a:solidFill>
              <a:srgbClr val="F3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2999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D80"/>
                </a:solidFill>
              </a:rPr>
              <a:t>Session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4251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Materials + CMF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72968" y="4672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</a:rPr>
              <a:t>What is it made of?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72584" y="3273552"/>
            <a:ext cx="1719072" cy="0"/>
          </a:xfrm>
          <a:prstGeom prst="line">
            <a:avLst/>
          </a:prstGeom>
          <a:noFill/>
          <a:ln w="25400">
            <a:solidFill>
              <a:srgbClr val="D4D0C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46520" y="27432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7D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2999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D80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3504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D80"/>
                </a:solidFill>
              </a:rPr>
              <a:t>Session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4251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Drawings + BOM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07608" y="4672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</a:rPr>
              <a:t>What parts define it?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07224" y="3273552"/>
            <a:ext cx="1719072" cy="0"/>
          </a:xfrm>
          <a:prstGeom prst="line">
            <a:avLst/>
          </a:prstGeom>
          <a:noFill/>
          <a:ln w="25400">
            <a:solidFill>
              <a:srgbClr val="D4D0C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81160" y="27432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7D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2999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D80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6968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D80"/>
                </a:solidFill>
              </a:rPr>
              <a:t>Session 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78240" y="4251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Ergonomics + MVP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42248" y="4672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</a:rPr>
              <a:t>How will it be tested?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goal</a:t>
            </a:r>
            <a:endParaRPr lang="en-US" sz="2600" dirty="0"/>
          </a:p>
        </p:txBody>
      </p:sp>
      <p:pic>
        <p:nvPicPr>
          <p:cNvPr id="7" name="Image 0" descr="/mnt/data/s3_split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54480"/>
            <a:ext cx="4983480" cy="4069080"/>
          </a:xfrm>
          <a:prstGeom prst="rect">
            <a:avLst/>
          </a:prstGeom>
        </p:spPr>
      </p:pic>
      <p:pic>
        <p:nvPicPr>
          <p:cNvPr id="8" name="Image 1" descr="/mnt/data/s3_split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54480"/>
            <a:ext cx="4983480" cy="4069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8368" y="5760720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5760720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5888736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</a:rPr>
              <a:t>Technical report: material logic for a manufacturer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720840" y="5888736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</a:rPr>
              <a:t>Visual/commercial report: material story for the user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931920" y="12252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6B3A"/>
                </a:solidFill>
              </a:rPr>
              <a:t>Same product, two languages.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define today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727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1. Material strategy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920240"/>
            <a:ext cx="308152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Which materials make sense for use, resistance, comfort, cleaning, cost and production?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417320"/>
            <a:ext cx="73152" cy="1417320"/>
          </a:xfrm>
          <a:prstGeom prst="rect">
            <a:avLst/>
          </a:prstGeom>
          <a:solidFill>
            <a:srgbClr val="6B4AB6"/>
          </a:solidFill>
          <a:ln w="12700">
            <a:solidFill>
              <a:srgbClr val="6B4A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5727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2. CMF direction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1920240"/>
            <a:ext cx="308152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What colors, materials and finishes support the product identity and user experience?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1417320"/>
          </a:xfrm>
          <a:prstGeom prst="rect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5727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3. Production direction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3608" y="1920240"/>
            <a:ext cx="308152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Which processes could manufacture the main parts: sewing, injection, CNC, 3D printing, RF welding, etc.?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4930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4. Material risks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" y="3840480"/>
            <a:ext cx="308152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What could fail: scratches, tears, leaks, weight, high cost, cleaning, water damage or weak joints?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337560"/>
            <a:ext cx="73152" cy="1417320"/>
          </a:xfrm>
          <a:prstGeom prst="rect">
            <a:avLst/>
          </a:prstGeom>
          <a:solidFill>
            <a:srgbClr val="70AD65"/>
          </a:solidFill>
          <a:ln w="12700">
            <a:solidFill>
              <a:srgbClr val="70AD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4930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5. Alternatives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0288" y="3840480"/>
            <a:ext cx="308152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What backup materials or processes could work if the first option is not viable?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3337560"/>
            <a:ext cx="73152" cy="1417320"/>
          </a:xfrm>
          <a:prstGeom prst="rect">
            <a:avLst/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34930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6. Evidence needed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93608" y="3840480"/>
            <a:ext cx="308152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What photos, tests, references, samples, diagrams or comparisons will support the decision?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34440" y="5632704"/>
            <a:ext cx="9738360" cy="566928"/>
          </a:xfrm>
          <a:prstGeom prst="roundRect">
            <a:avLst>
              <a:gd name="adj" fmla="val 16129"/>
            </a:avLst>
          </a:prstGeom>
          <a:solidFill>
            <a:srgbClr val="FFF8E6"/>
          </a:solidFill>
          <a:ln w="12700">
            <a:solidFill>
              <a:srgbClr val="E8D7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5806440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24"/>
                </a:solidFill>
              </a:rPr>
              <a:t>Deliverable: Materials, CMF and Productive Direction Report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 materials</a:t>
            </a:r>
            <a:endParaRPr lang="en-US" sz="2600" dirty="0"/>
          </a:p>
        </p:txBody>
      </p:sp>
      <p:pic>
        <p:nvPicPr>
          <p:cNvPr id="7" name="Image 0" descr="/mnt/data/s3_flat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4983480" cy="5166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53312"/>
            <a:ext cx="52578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2404872"/>
            <a:ext cx="256032" cy="256032"/>
          </a:xfrm>
          <a:prstGeom prst="ellipse">
            <a:avLst/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8448" y="237744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</a:rPr>
              <a:t>Use context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724912" y="237744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Water, movement, impact, friction, weight, cleaning, heat, outdoor use.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932688" y="3063240"/>
            <a:ext cx="256032" cy="256032"/>
          </a:xfrm>
          <a:prstGeom prst="ellipse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30358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</a:rPr>
              <a:t>User body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724912" y="303580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Grip, touch, comfort, pressure, sweat, posture, adjustability.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932688" y="3721608"/>
            <a:ext cx="256032" cy="256032"/>
          </a:xfrm>
          <a:prstGeom prst="ellipse">
            <a:avLst/>
          </a:prstGeom>
          <a:solidFill>
            <a:srgbClr val="6B4AB6"/>
          </a:solidFill>
          <a:ln w="12700">
            <a:solidFill>
              <a:srgbClr val="6B4A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369417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</a:rPr>
              <a:t>Production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724912" y="369417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How it can be cut, sewn, molded, printed, welded, assembled.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932688" y="4379976"/>
            <a:ext cx="256032" cy="256032"/>
          </a:xfrm>
          <a:prstGeom prst="ellipse">
            <a:avLst/>
          </a:prstGeom>
          <a:solidFill>
            <a:srgbClr val="70AD65"/>
          </a:solidFill>
          <a:ln w="12700">
            <a:solidFill>
              <a:srgbClr val="70AD6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98448" y="43525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</a:rPr>
              <a:t>Business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724912" y="435254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Cost, suppliers, availability, repair, replacement parts.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932688" y="5038344"/>
            <a:ext cx="256032" cy="256032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8448" y="50109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</a:rPr>
              <a:t>Communication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724912" y="50109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What the material says: durable, premium, light, safe, sustainable.</a:t>
            </a:r>
            <a:endParaRPr lang="en-US" sz="970" dirty="0"/>
          </a:p>
        </p:txBody>
      </p:sp>
      <p:sp>
        <p:nvSpPr>
          <p:cNvPr id="25" name="Text 22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CMF is not decoration</a:t>
            </a:r>
            <a:endParaRPr lang="en-US" sz="2600" dirty="0"/>
          </a:p>
        </p:txBody>
      </p:sp>
      <p:pic>
        <p:nvPicPr>
          <p:cNvPr id="7" name="Image 0" descr="/mnt/data/s3_workspace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298448"/>
            <a:ext cx="5486400" cy="5330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28016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CMF = Color + Material + Finish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92240" y="1737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5F6368"/>
                </a:solidFill>
              </a:rPr>
              <a:t>It connects technical performance with product identity.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6537960" y="251460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514600"/>
            <a:ext cx="91440" cy="658368"/>
          </a:xfrm>
          <a:prstGeom prst="rect">
            <a:avLst/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6517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</a:rPr>
              <a:t>Color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26334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Visibility, identity, safety, emotion, product family.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6537960" y="347472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3474720"/>
            <a:ext cx="91440" cy="658368"/>
          </a:xfrm>
          <a:prstGeom prst="rect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36118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</a:rPr>
              <a:t>Material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09560" y="3593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Durability, comfort, weight, cleaning, sustainability.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6537960" y="443484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37960" y="4434840"/>
            <a:ext cx="91440" cy="658368"/>
          </a:xfrm>
          <a:prstGeom prst="rect">
            <a:avLst/>
          </a:prstGeom>
          <a:solidFill>
            <a:srgbClr val="6B4AB6"/>
          </a:solidFill>
          <a:ln w="12700">
            <a:solidFill>
              <a:srgbClr val="6B4A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4572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</a:rPr>
              <a:t>Finish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09560" y="4553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368"/>
                </a:solidFill>
              </a:rPr>
              <a:t>Texture, grip, perceived quality, maintenance, scratches.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6537960" y="5559552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 w="12700">
            <a:solidFill>
              <a:srgbClr val="E8D79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5687568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02124"/>
                </a:solidFill>
              </a:rPr>
              <a:t>Example: “textured matte finish” can mean grip + durability + sport identity.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3 deliverable checklist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2252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6B3A"/>
                </a:solidFill>
              </a:rPr>
              <a:t>Materials, CMF and Productive Direction Report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65376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1. Cover / Header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679192" y="185623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Project name, team, course, session and main product image.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85800" y="2505456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15184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2. Material strategy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679192" y="26060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General explanation of the material needs of the product.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85800" y="3255264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364992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3. Materials table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679192" y="33558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Part, material, properties, process, finish, justification and risk.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85800" y="4005072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11480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4. CMF palette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679192" y="41056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Colors, materials, textures and finishes with short captions.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85800" y="4754880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86460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5. Material references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679192" y="485546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Photos, samples, benchmarks, suppliers or real material examples.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263640" y="1755648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865376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6. Production process direction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257032" y="185623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Possible processes for each major part or component.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263640" y="2505456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615184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7. Risks and alternatives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257032" y="26060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What could fail and what backup options exist.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263640" y="3255264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3364992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8. Technical explanation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257032" y="33558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How this should appear in the report for a manufacturer.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263640" y="4005072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411480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9. Visual/commercial explanation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8257032" y="41056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How materials will be shown to the final user.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263640" y="4754880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486460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02124"/>
                </a:solidFill>
              </a:rPr>
              <a:t>10. Next steps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8257032" y="485546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F6368"/>
                </a:solidFill>
              </a:rPr>
              <a:t>What to test, measure, draw, quote or confirm before Session 4.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1005840" y="5852160"/>
            <a:ext cx="10149840" cy="384048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 w="12700">
            <a:solidFill>
              <a:srgbClr val="A7DA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596188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7D80"/>
                </a:solidFill>
              </a:rPr>
              <a:t>Suggested length: 8–12 pages. Visual, concise, with tables, captions and clear evidence.</a:t>
            </a:r>
            <a:endParaRPr lang="en-US" sz="1060" dirty="0"/>
          </a:p>
        </p:txBody>
      </p:sp>
      <p:sp>
        <p:nvSpPr>
          <p:cNvPr id="40" name="Text 38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table for Session 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F6368"/>
                </a:solidFill>
              </a:rPr>
              <a:t>This table turns your Session 2 requirements into material and production decisions.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083564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83080"/>
            <a:ext cx="10835640" cy="495300"/>
          </a:xfrm>
          <a:prstGeom prst="rect">
            <a:avLst/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56232"/>
            <a:ext cx="1714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Part / Component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537460" y="1856232"/>
            <a:ext cx="1714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Proposed Material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4343400" y="1856232"/>
            <a:ext cx="1714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Key Properties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149340" y="1856232"/>
            <a:ext cx="1714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Process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955280" y="1856232"/>
            <a:ext cx="1714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Finish / Color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9761220" y="1856232"/>
            <a:ext cx="17145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Risk / Alternative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31520" y="23423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Main body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2537460" y="23423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to be defined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4343400" y="23423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durable, light, safe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149340" y="23423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injection / sewing / RF welding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7955280" y="23423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matte / textured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9761220" y="23423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needs testing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685800" y="2773680"/>
            <a:ext cx="10835640" cy="495300"/>
          </a:xfrm>
          <a:prstGeom prst="rect">
            <a:avLst/>
          </a:prstGeom>
          <a:solidFill>
            <a:srgbClr val="F4F1EA">
              <a:alpha val="85000"/>
            </a:srgbClr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8376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Strap / support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2537460" y="28376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to be defined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4343400" y="28376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flexible, strong, comfortable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6149340" y="28376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cutting + sewing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7955280" y="28376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textile finish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9761220" y="28376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check resistance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731520" y="33329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Connector / joint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2537460" y="33329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to be defined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4343400" y="33329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precise, repeatable, strong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6149340" y="33329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injection / CNC / commercial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7955280" y="33329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neutral / technical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9761220" y="33329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check tolerance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685800" y="3764280"/>
            <a:ext cx="10835640" cy="495300"/>
          </a:xfrm>
          <a:prstGeom prst="rect">
            <a:avLst/>
          </a:prstGeom>
          <a:solidFill>
            <a:srgbClr val="F4F1EA">
              <a:alpha val="85000"/>
            </a:srgbClr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8282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User touch area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2537460" y="38282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to be defined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4343400" y="38282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soft, washable, ergonomic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6149340" y="38282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foam / textile / rubber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7955280" y="38282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grip texture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9761220" y="38282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check cleaning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731520" y="43235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Replaceable module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2537460" y="43235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to be defined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4343400" y="43235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modular, easy to remove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6149340" y="43235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assembly / fastener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7955280" y="43235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brand color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9761220" y="4323588"/>
            <a:ext cx="17145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02124"/>
                </a:solidFill>
              </a:rPr>
              <a:t>check wear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2491740" y="1783080"/>
            <a:ext cx="0" cy="2971800"/>
          </a:xfrm>
          <a:prstGeom prst="line">
            <a:avLst/>
          </a:prstGeom>
          <a:noFill/>
          <a:ln w="7620">
            <a:solidFill>
              <a:srgbClr val="D4D0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97680" y="1783080"/>
            <a:ext cx="0" cy="2971800"/>
          </a:xfrm>
          <a:prstGeom prst="line">
            <a:avLst/>
          </a:prstGeom>
          <a:noFill/>
          <a:ln w="7620">
            <a:solidFill>
              <a:srgbClr val="D4D0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03620" y="1783080"/>
            <a:ext cx="0" cy="2971800"/>
          </a:xfrm>
          <a:prstGeom prst="line">
            <a:avLst/>
          </a:prstGeom>
          <a:noFill/>
          <a:ln w="7620">
            <a:solidFill>
              <a:srgbClr val="D4D0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783080"/>
            <a:ext cx="0" cy="2971800"/>
          </a:xfrm>
          <a:prstGeom prst="line">
            <a:avLst/>
          </a:prstGeom>
          <a:noFill/>
          <a:ln w="7620">
            <a:solidFill>
              <a:srgbClr val="D4D0C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15500" y="1783080"/>
            <a:ext cx="0" cy="2971800"/>
          </a:xfrm>
          <a:prstGeom prst="line">
            <a:avLst/>
          </a:prstGeom>
          <a:noFill/>
          <a:ln w="7620">
            <a:solidFill>
              <a:srgbClr val="D4D0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" y="51206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124"/>
                </a:solidFill>
              </a:rPr>
              <a:t>Add images next to the table: material reference, component sketch, prototype photo or production example.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057400" y="5623560"/>
            <a:ext cx="8046720" cy="402336"/>
          </a:xfrm>
          <a:prstGeom prst="roundRect">
            <a:avLst>
              <a:gd name="adj" fmla="val 13636"/>
            </a:avLst>
          </a:prstGeom>
          <a:solidFill>
            <a:srgbClr val="FFF8E6"/>
          </a:solidFill>
          <a:ln w="12700">
            <a:solidFill>
              <a:srgbClr val="E8D7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12848" y="5742432"/>
            <a:ext cx="7726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02124"/>
                </a:solidFill>
              </a:rPr>
              <a:t>Do not claim “final material” unless you have evidence. Use “proposed material” or “to be tested”.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NotebookLM prompt for Session 3</a:t>
            </a:r>
            <a:endParaRPr 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298448"/>
            <a:ext cx="10835640" cy="4983480"/>
          </a:xfrm>
          <a:prstGeom prst="roundRect">
            <a:avLst>
              <a:gd name="adj" fmla="val 1468"/>
            </a:avLst>
          </a:prstGeom>
          <a:solidFill>
            <a:srgbClr val="101820"/>
          </a:solidFill>
          <a:ln w="12700">
            <a:solidFill>
              <a:srgbClr val="445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1028700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the Session 2 Concept and Requirements report, create a material and CMF proposal for this product.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Include: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Material strategy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Main parts and possible materials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Material properties needed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Possible production processes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CMF palette direction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Material risks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Alternative materials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How to explain the materials in the technical report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How to communicate the materials in the visual/commercial report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1F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invent final specifications. If information is missing, write “to be defined” or “needs testing”.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93776"/>
            <a:ext cx="11155680" cy="0"/>
          </a:xfrm>
          <a:prstGeom prst="line">
            <a:avLst/>
          </a:prstGeom>
          <a:noFill/>
          <a:ln w="12700">
            <a:solidFill>
              <a:srgbClr val="D4D0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09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F6368"/>
                </a:solidFill>
              </a:rPr>
              <a:t>Four hours to turn requirements into material and CMF decisions.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01952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0:00–0:35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788920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02124"/>
                </a:solidFill>
              </a:rPr>
              <a:t>Review Session 2 requirements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532120" y="1828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F6368"/>
                </a:solidFill>
              </a:rPr>
              <a:t>Highlight which requirements affect material, comfort, production and safety.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77240" y="2468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6B4AB6"/>
          </a:solidFill>
          <a:ln w="12700">
            <a:solidFill>
              <a:srgbClr val="6B4A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15184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0:35–1:15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788920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02124"/>
                </a:solidFill>
              </a:rPr>
              <a:t>Material research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532120" y="2542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F6368"/>
                </a:solidFill>
              </a:rPr>
              <a:t>Find possible materials, properties, risks, suppliers and references.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77240" y="318211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328416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1:15–2:05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788920" y="3255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02124"/>
                </a:solidFill>
              </a:rPr>
              <a:t>CMF direction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532120" y="32552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F6368"/>
                </a:solidFill>
              </a:rPr>
              <a:t>Define color, texture, finish, visual tone and product attributes.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77240" y="3895344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6B4AB6"/>
          </a:solidFill>
          <a:ln w="12700">
            <a:solidFill>
              <a:srgbClr val="6B4A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041648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2:05–2:45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2788920" y="3968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02124"/>
                </a:solidFill>
              </a:rPr>
              <a:t>Production direction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532120" y="39684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F6368"/>
                </a:solidFill>
              </a:rPr>
              <a:t>Map possible processes for each main component.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77240" y="4608576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B7D80"/>
          </a:solidFill>
          <a:ln w="12700">
            <a:solidFill>
              <a:srgbClr val="0B7D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754880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2:45–3:30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2788920" y="4681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02124"/>
                </a:solidFill>
              </a:rPr>
              <a:t>NotebookLM draft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532120" y="46817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F6368"/>
                </a:solidFill>
              </a:rPr>
              <a:t>Generate and edit the report draft using the Session 3 prompt.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777240" y="532180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6B4AB6"/>
          </a:solidFill>
          <a:ln w="12700">
            <a:solidFill>
              <a:srgbClr val="6B4A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468112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3:30–4:00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88920" y="5394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02124"/>
                </a:solidFill>
              </a:rPr>
              <a:t>Review + next steps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5532120" y="53949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F6368"/>
                </a:solidFill>
              </a:rPr>
              <a:t>Prepare missing evidence list and actions for Session 4.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1143000" y="6172200"/>
            <a:ext cx="98755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4D0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6254496"/>
            <a:ext cx="9509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02124"/>
                </a:solidFill>
              </a:rPr>
              <a:t>End of class output: first draft + material table + CMF direction + missing evidence list.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3_close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749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For next time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3000" y="16184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proposed material for each main component.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350008"/>
            <a:ext cx="201168" cy="201168"/>
          </a:xfrm>
          <a:prstGeom prst="ellipse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227685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CMF palette with colors, textures and finishes.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008376"/>
            <a:ext cx="201168" cy="201168"/>
          </a:xfrm>
          <a:prstGeom prst="ellipse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93522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short explanation for the technical report.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359359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short explanation for the visual/commercial report.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325112"/>
            <a:ext cx="201168" cy="201168"/>
          </a:xfrm>
          <a:prstGeom prst="ellipse">
            <a:avLst/>
          </a:prstGeom>
          <a:solidFill>
            <a:srgbClr val="F36B3A"/>
          </a:solidFill>
          <a:ln w="12700">
            <a:solidFill>
              <a:srgbClr val="F36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425196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list of tests, measurements or images still needed.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" y="562356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5760720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02124"/>
                </a:solidFill>
              </a:rPr>
              <a:t>Session 4 will use this information to build drawings, exploded views and BOM.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11356848" y="644652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1126</Words>
  <Application>Microsoft Macintosh PowerPoint</Application>
  <PresentationFormat>Panorámica</PresentationFormat>
  <Paragraphs>198</Paragraphs>
  <Slides>11</Slides>
  <Notes>11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Tecnológico de Monterrey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— Materials, CMF &amp; Productive Direction</dc:title>
  <dc:subject>Session 3 Materials, CMF and Productive Direction</dc:subject>
  <dc:creator>Victor Valencia</dc:creator>
  <cp:lastModifiedBy>Microsoft Office User</cp:lastModifiedBy>
  <cp:revision>2</cp:revision>
  <dcterms:created xsi:type="dcterms:W3CDTF">2026-05-19T23:57:56Z</dcterms:created>
  <dcterms:modified xsi:type="dcterms:W3CDTF">2026-05-21T20:14:17Z</dcterms:modified>
</cp:coreProperties>
</file>