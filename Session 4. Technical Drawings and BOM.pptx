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/>
    <p:restoredTop sz="94685"/>
  </p:normalViewPr>
  <p:slideViewPr>
    <p:cSldViewPr snapToGrid="0" snapToObjects="1">
      <p:cViewPr>
        <p:scale>
          <a:sx n="120" d="100"/>
          <a:sy n="120" d="100"/>
        </p:scale>
        <p:origin x="1448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097280"/>
            <a:ext cx="91440" cy="1439726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623560" cy="1758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defRPr sz="3800" b="1">
                <a:solidFill>
                  <a:srgbClr val="003B3D"/>
                </a:solidFill>
                <a:latin typeface="Aptos Display"/>
              </a:defRPr>
            </a:pPr>
            <a:r>
              <a:rPr dirty="0"/>
              <a:t>Session 4</a:t>
            </a:r>
            <a:br>
              <a:rPr dirty="0"/>
            </a:br>
            <a:r>
              <a:rPr dirty="0"/>
              <a:t>Technical Drawings, Exploded View &amp;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" y="361188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068"/>
                </a:solidFill>
                <a:latin typeface="Aptos"/>
              </a:defRPr>
            </a:pPr>
            <a:r>
              <a:rPr dirty="0"/>
              <a:t>Brief and practical checklist for what each team must create.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" y="4434840"/>
            <a:ext cx="4754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41B20"/>
                </a:solidFill>
                <a:latin typeface="Aptos"/>
              </a:defRPr>
            </a:pPr>
            <a:r>
              <a:rPr dirty="0"/>
              <a:t>Convert the product into parts and assemblies.</a:t>
            </a:r>
          </a:p>
          <a:p>
            <a:pPr>
              <a:spcAft>
                <a:spcPts val="900"/>
              </a:spcAft>
              <a:defRPr sz="1800">
                <a:solidFill>
                  <a:srgbClr val="141B20"/>
                </a:solidFill>
                <a:latin typeface="Aptos"/>
              </a:defRPr>
            </a:pPr>
            <a:r>
              <a:rPr dirty="0"/>
              <a:t>Define what is manufactured vs. purchased.</a:t>
            </a:r>
          </a:p>
          <a:p>
            <a:pPr>
              <a:spcAft>
                <a:spcPts val="900"/>
              </a:spcAft>
              <a:defRPr sz="1800">
                <a:solidFill>
                  <a:srgbClr val="141B20"/>
                </a:solidFill>
                <a:latin typeface="Aptos"/>
              </a:defRPr>
            </a:pPr>
            <a:r>
              <a:rPr dirty="0"/>
              <a:t>Prepare the first BOM and drawing checklist.</a:t>
            </a:r>
          </a:p>
        </p:txBody>
      </p:sp>
      <p:pic>
        <p:nvPicPr>
          <p:cNvPr id="6" name="Picture 5" descr="a_clean_flat_infographic_style_presentation_bo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914400"/>
            <a:ext cx="525780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398678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068"/>
                </a:solidFill>
                <a:latin typeface="Aptos"/>
              </a:defRPr>
            </a:pPr>
            <a:r>
              <a:t>Today: translate design intent into parts, drawings and a preliminary BOM.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4599432"/>
            <a:ext cx="5257800" cy="1143000"/>
          </a:xfrm>
          <a:prstGeom prst="rect">
            <a:avLst/>
          </a:prstGeom>
          <a:solidFill>
            <a:srgbClr val="F5F8F8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4782312"/>
            <a:ext cx="459561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3B3D"/>
                </a:solidFill>
                <a:latin typeface="Aptos"/>
              </a:defRPr>
            </a:pPr>
            <a:r>
              <a:rPr dirty="0"/>
              <a:t>Output: a report fragment ready to become part</a:t>
            </a:r>
            <a:r>
              <a:rPr lang="es-ES" dirty="0"/>
              <a:t> </a:t>
            </a:r>
          </a:p>
          <a:p>
            <a:pPr>
              <a:defRPr sz="1700" b="1">
                <a:solidFill>
                  <a:srgbClr val="003B3D"/>
                </a:solidFill>
                <a:latin typeface="Aptos"/>
              </a:defRPr>
            </a:pPr>
            <a:r>
              <a:rPr dirty="0"/>
              <a:t>of the final technical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Specification of Products and Services · Session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Session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71008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rPr dirty="0"/>
              <a:t>What must solve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55570"/>
            <a:ext cx="10469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3000" b="1">
                <a:solidFill>
                  <a:srgbClr val="003B3D"/>
                </a:solidFill>
                <a:latin typeface="Aptos Display"/>
              </a:defRPr>
            </a:pPr>
            <a:r>
              <a:rPr dirty="0"/>
              <a:t>What information would a manufacturer need to understand and produce your product?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74041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1" y="3638633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367978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38633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1. Identify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4095833"/>
            <a:ext cx="2971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List every piece, module, connector, textile piece, hardware item and consumable.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474041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3638633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367978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3638633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2. Organize assembly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095833"/>
            <a:ext cx="2971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Show how parts connect, open, fold, attach or are replaced.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3474041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10727" y="3638633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0727" y="367978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638633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3. Build the BOM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4095833"/>
            <a:ext cx="2971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Create a preliminary list with quantities, materials, processes, suppliers and costs.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Output: practical technical documentation, not a final render.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What to submit for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Keep it short, clear and advanced enough to integrate into the final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490472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316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90472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Product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764792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rPr dirty="0"/>
              <a:t>Parts, modules and how they work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490472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316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490472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Parts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1764792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Manufactured, commercial and consumable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86584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2551176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592324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51176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Exploded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2825496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Sketch, CAD screenshot or diagram with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86584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82512" y="2551176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592324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551176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Drawing checklist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2825496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Which drawings are needed for the final technical report.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47287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96112" y="3611879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653027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611879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Preliminary BOM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3886199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Quantity, material, process, supplier and estimated cost.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47287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82512" y="3611879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3653027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611879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Assembly sequence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886199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Basic order of construction or integration.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507992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96112" y="4672583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471373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672583"/>
            <a:ext cx="42519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Risks + missing info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4946903"/>
            <a:ext cx="4663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What still needs measurement, testing or supplier confirmation.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Suggested length: 6–10 pages. Use diagrams, tables and captions.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Parts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Make the product visible as a system of pieces.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719072"/>
            <a:ext cx="30358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Manufactured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76272"/>
            <a:ext cx="306323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rPr dirty="0"/>
              <a:t>Custom pieces made for your project:</a:t>
            </a:r>
            <a:br>
              <a:rPr dirty="0"/>
            </a:br>
            <a:br>
              <a:rPr dirty="0"/>
            </a:br>
            <a:r>
              <a:rPr dirty="0"/>
              <a:t>• shells / bodies</a:t>
            </a:r>
            <a:br>
              <a:rPr dirty="0"/>
            </a:br>
            <a:r>
              <a:rPr dirty="0"/>
              <a:t>• textile or leather patterns</a:t>
            </a:r>
            <a:br>
              <a:rPr dirty="0"/>
            </a:br>
            <a:r>
              <a:rPr dirty="0"/>
              <a:t>• molded / printed components</a:t>
            </a:r>
            <a:br>
              <a:rPr dirty="0"/>
            </a:br>
            <a:r>
              <a:rPr dirty="0"/>
              <a:t>• custom pads or covers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747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9744" y="1719072"/>
            <a:ext cx="30358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Commercial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176272"/>
            <a:ext cx="306323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Purchased components:</a:t>
            </a:r>
            <a:br/>
            <a:br/>
            <a:r>
              <a:t>• buckles / zippers</a:t>
            </a:r>
            <a:br/>
            <a:r>
              <a:t>• screws / magnets</a:t>
            </a:r>
            <a:br/>
            <a:r>
              <a:t>• straps / webbing</a:t>
            </a:r>
            <a:br/>
            <a:r>
              <a:t>• electronics / batteries</a:t>
            </a:r>
            <a:br/>
            <a:r>
              <a:t>• hooks / latches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747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3064" y="1719072"/>
            <a:ext cx="30358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Consumables + finishes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176272"/>
            <a:ext cx="3063239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Materials used during production:</a:t>
            </a:r>
            <a:br/>
            <a:br/>
            <a:r>
              <a:t>• adhesives</a:t>
            </a:r>
            <a:br/>
            <a:r>
              <a:t>• thread</a:t>
            </a:r>
            <a:br/>
            <a:r>
              <a:t>• coatings</a:t>
            </a:r>
            <a:br/>
            <a:r>
              <a:t>• labels</a:t>
            </a:r>
            <a:br/>
            <a:r>
              <a:t>• paint / dye</a:t>
            </a:r>
            <a:br/>
            <a:r>
              <a:t>• packaging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241280" cy="594360"/>
          </a:xfrm>
          <a:prstGeom prst="roundRect">
            <a:avLst/>
          </a:prstGeom>
          <a:solidFill>
            <a:srgbClr val="FFF4E8"/>
          </a:solidFill>
          <a:ln>
            <a:solidFill>
              <a:srgbClr val="FFC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5819" y="5230368"/>
            <a:ext cx="67184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3B3D"/>
                </a:solidFill>
                <a:latin typeface="Aptos"/>
              </a:defRPr>
            </a:pPr>
            <a:r>
              <a:rPr dirty="0"/>
              <a:t>If a part exists in the product, it must appear in the parts list and later in the BOM.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Do not forget small items: thread, screws, labels, seals, adhesives and closures.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Exploded view or assembly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A sketch is acceptable if it clearly explains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3840480"/>
          </a:xfrm>
          <a:prstGeom prst="roundRect">
            <a:avLst/>
          </a:prstGeom>
          <a:solidFill>
            <a:srgbClr val="F5F8F8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53312" y="2382013"/>
            <a:ext cx="2926080" cy="320040"/>
          </a:xfrm>
          <a:prstGeom prst="round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9392" y="2354581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41B20"/>
                </a:solidFill>
                <a:latin typeface="Aptos"/>
              </a:defRPr>
            </a:pPr>
            <a:r>
              <a:t>A01 outer shell / body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67912" y="2537461"/>
            <a:ext cx="365760" cy="0"/>
          </a:xfrm>
          <a:prstGeom prst="line">
            <a:avLst/>
          </a:prstGeom>
          <a:ln w="9525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36192" y="3067813"/>
            <a:ext cx="2560320" cy="274320"/>
          </a:xfrm>
          <a:prstGeom prst="roundRect">
            <a:avLst/>
          </a:prstGeom>
          <a:solidFill>
            <a:srgbClr val="A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3040381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41B20"/>
                </a:solidFill>
                <a:latin typeface="Aptos"/>
              </a:defRPr>
            </a:pPr>
            <a:r>
              <a:t>A02 support layer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67912" y="3223261"/>
            <a:ext cx="365760" cy="0"/>
          </a:xfrm>
          <a:prstGeom prst="line">
            <a:avLst/>
          </a:prstGeom>
          <a:ln w="9525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61872" y="3753613"/>
            <a:ext cx="3108960" cy="256032"/>
          </a:xfrm>
          <a:prstGeom prst="roundRect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3726181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41B20"/>
                </a:solidFill>
                <a:latin typeface="Aptos"/>
              </a:defRPr>
            </a:pPr>
            <a:r>
              <a:t>A03 connector / strap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67912" y="3909061"/>
            <a:ext cx="365760" cy="0"/>
          </a:xfrm>
          <a:prstGeom prst="line">
            <a:avLst/>
          </a:prstGeom>
          <a:ln w="9525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27632" y="4439412"/>
            <a:ext cx="2377440" cy="292608"/>
          </a:xfrm>
          <a:prstGeom prst="roundRect">
            <a:avLst/>
          </a:prstGeom>
          <a:solidFill>
            <a:srgbClr val="37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9392" y="44119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41B20"/>
                </a:solidFill>
                <a:latin typeface="Aptos"/>
              </a:defRPr>
            </a:pPr>
            <a:r>
              <a:t>A04 base / interface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67912" y="4594860"/>
            <a:ext cx="365760" cy="0"/>
          </a:xfrm>
          <a:prstGeom prst="line">
            <a:avLst/>
          </a:prstGeom>
          <a:ln w="9525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912" y="2775204"/>
            <a:ext cx="0" cy="320041"/>
          </a:xfrm>
          <a:prstGeom prst="line">
            <a:avLst/>
          </a:prstGeom>
          <a:ln w="12700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24912" y="3461005"/>
            <a:ext cx="0" cy="320040"/>
          </a:xfrm>
          <a:prstGeom prst="line">
            <a:avLst/>
          </a:prstGeom>
          <a:ln w="12700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24912" y="4146805"/>
            <a:ext cx="0" cy="320040"/>
          </a:xfrm>
          <a:prstGeom prst="line">
            <a:avLst/>
          </a:prstGeom>
          <a:ln w="12700">
            <a:solidFill>
              <a:srgbClr val="5A60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1897381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11112" y="2061972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10312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061972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Must show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2519173"/>
            <a:ext cx="4343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All main parts separated and labeled.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040381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11112" y="3204973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324612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204973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Must 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5976" y="3662173"/>
            <a:ext cx="4343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Each label must match the BOM row.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183381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11112" y="4347973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38912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347973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Must clarify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976" y="4805173"/>
            <a:ext cx="4343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How parts attach, move, fold, open or are replaced.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Use A01, A02, A03… and keep the same labels in drawings and BOM.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Preliminary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The BOM is the inventory of your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6063"/>
            <a:ext cx="1874519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53223"/>
            <a:ext cx="1783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Part /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716063"/>
            <a:ext cx="59436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59" y="1853223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Qty.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799" y="1716063"/>
            <a:ext cx="123444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19" y="1853223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16063"/>
            <a:ext cx="137160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9" y="1853223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716063"/>
            <a:ext cx="192024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59" y="1853223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Process / Supplier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716063"/>
            <a:ext cx="96012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1853223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716063"/>
            <a:ext cx="210312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853223"/>
            <a:ext cx="20116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1716063"/>
            <a:ext cx="1143000" cy="502920"/>
          </a:xfrm>
          <a:prstGeom prst="rect">
            <a:avLst/>
          </a:prstGeom>
          <a:solidFill>
            <a:srgbClr val="005E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07040" y="1853223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18983"/>
            <a:ext cx="1874519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328711"/>
            <a:ext cx="1783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Main shell / body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39" y="2218983"/>
            <a:ext cx="594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59" y="232871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799" y="2218983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19" y="2328711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Manufactured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218983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59" y="2328711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To define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218983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23559" y="232871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3D print / injection / sewing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2218983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43800" y="2328711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2218983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2328711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Main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2218983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07040" y="2328711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needs dimensions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21903"/>
            <a:ext cx="1874519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31631"/>
            <a:ext cx="1783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Strap / 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39" y="2721903"/>
            <a:ext cx="59436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59" y="283163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799" y="2721903"/>
            <a:ext cx="123444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17519" y="2831631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Commercial / manuf.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2721903"/>
            <a:ext cx="137160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59" y="2831631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Nylon / textile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2721903"/>
            <a:ext cx="192024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23559" y="283163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Supplier + stitching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721903"/>
            <a:ext cx="96012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3800" y="2831631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2721903"/>
            <a:ext cx="210312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920" y="2831631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Adjustment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61320" y="2721903"/>
            <a:ext cx="114300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07040" y="2831631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needs test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224823"/>
            <a:ext cx="1874519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3334551"/>
            <a:ext cx="1783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Buckle / latch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39" y="3224823"/>
            <a:ext cx="5943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23159" y="333455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799" y="3224823"/>
            <a:ext cx="1234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19" y="3334551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Commercial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3224823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51959" y="3334551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POM / metal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3224823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59" y="333455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3224823"/>
            <a:ext cx="960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43800" y="3334551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3224823"/>
            <a:ext cx="2103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03920" y="3334551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Closure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61320" y="3224823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07040" y="3334551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choose type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727743"/>
            <a:ext cx="1874519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8640" y="3837471"/>
            <a:ext cx="1783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Fasteners / thread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77439" y="3727743"/>
            <a:ext cx="59436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423159" y="383747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Several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71799" y="3727743"/>
            <a:ext cx="123444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017519" y="3837471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Consumable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06240" y="3727743"/>
            <a:ext cx="137160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251959" y="3837471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Steel / thread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7840" y="3727743"/>
            <a:ext cx="192024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623559" y="383747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3727743"/>
            <a:ext cx="96012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43800" y="3837471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200" y="3727743"/>
            <a:ext cx="210312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03920" y="3837471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Assembly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61320" y="3727743"/>
            <a:ext cx="1143000" cy="502920"/>
          </a:xfrm>
          <a:prstGeom prst="rect">
            <a:avLst/>
          </a:prstGeom>
          <a:solidFill>
            <a:srgbClr val="F8FAFA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607040" y="3837471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9">
                <a:solidFill>
                  <a:srgbClr val="141B20"/>
                </a:solidFill>
                <a:latin typeface="Aptos"/>
              </a:defRPr>
            </a:pPr>
            <a:r>
              <a:t>count needed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5840" y="4892040"/>
            <a:ext cx="10149840" cy="685800"/>
          </a:xfrm>
          <a:prstGeom prst="roundRect">
            <a:avLst/>
          </a:prstGeom>
          <a:solidFill>
            <a:srgbClr val="EDF9F9"/>
          </a:solidFill>
          <a:ln>
            <a:solidFill>
              <a:srgbClr val="B4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9924" y="5074920"/>
            <a:ext cx="62131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3B3D"/>
                </a:solidFill>
                <a:latin typeface="Aptos"/>
              </a:defRPr>
            </a:pPr>
            <a:r>
              <a:rPr dirty="0"/>
              <a:t>Use “TBD / needs evidence” only when necessary. Do not leave empty cells.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Minimum: 10–15 rows depending on product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Drawing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4501489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rPr lang="es-ES" dirty="0"/>
              <a:t>Do </a:t>
            </a:r>
            <a:r>
              <a:rPr dirty="0"/>
              <a:t>not need perfect final drawings, </a:t>
            </a:r>
            <a:r>
              <a:rPr lang="es-ES" dirty="0" err="1"/>
              <a:t>just</a:t>
            </a:r>
            <a:r>
              <a:rPr lang="es-ES" dirty="0"/>
              <a:t> </a:t>
            </a:r>
            <a:r>
              <a:rPr dirty="0"/>
              <a:t>must know what to create.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607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33502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General product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35024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Complete product + main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56232"/>
            <a:ext cx="10607040" cy="438912"/>
          </a:xfrm>
          <a:prstGeom prst="roundRect">
            <a:avLst/>
          </a:prstGeom>
          <a:solidFill>
            <a:srgbClr val="F5F8F8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5681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Part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56816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Individual pieces with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78024"/>
            <a:ext cx="10607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Assembly drawing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How parts fit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99816"/>
            <a:ext cx="10607040" cy="438912"/>
          </a:xfrm>
          <a:prstGeom prst="roundRect">
            <a:avLst/>
          </a:prstGeom>
          <a:solidFill>
            <a:srgbClr val="F5F8F8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0040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Exploded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Separated parts +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21608"/>
            <a:ext cx="10607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82219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Detail drawing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2219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Closures, joints or critical zones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43400"/>
            <a:ext cx="10607040" cy="438912"/>
          </a:xfrm>
          <a:prstGeom prst="roundRect">
            <a:avLst/>
          </a:prstGeom>
          <a:solidFill>
            <a:srgbClr val="F5F8F8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4398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Pattern / flat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443984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Textile, leather, fabric or sheet products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65192"/>
            <a:ext cx="10607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06577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3D"/>
                </a:solidFill>
                <a:latin typeface="Aptos"/>
              </a:defRPr>
            </a:pPr>
            <a:r>
              <a:t>Electronic diagram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65776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B20"/>
                </a:solidFill>
                <a:latin typeface="Aptos"/>
              </a:defRPr>
            </a:pPr>
            <a:r>
              <a:t>Only if sensors, batteries or wiring exist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What most teams need to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Based on the last submissions: be concrete and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431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94944" y="2107692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21488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1076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48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Do not write only “to be defined”. Identify which dimensions are missing and why they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9431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98263" y="2107692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3" y="21488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1076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Suppliers +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648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Start searching possible suppliers, commercial parts and price ranges.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9431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01584" y="2107692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4" y="21488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1076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5648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Plan tests: load, abrasion, water, magnets, comfort, assembly time or movement.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7719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4944" y="3936492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39776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9364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Clear diagrams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936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Include at least one labeled exploded view, pattern, sketch or assembly map.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3672" y="37719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98263" y="3936492"/>
            <a:ext cx="320040" cy="320040"/>
          </a:xfrm>
          <a:prstGeom prst="ellipse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98263" y="39776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39364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Parts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3936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Every material decision must connect to a specific part or component.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37719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01584" y="3936492"/>
            <a:ext cx="320040" cy="320040"/>
          </a:xfrm>
          <a:prstGeom prst="ellipse">
            <a:avLst/>
          </a:prstGeom>
          <a:solidFill>
            <a:srgbClr val="E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01584" y="397764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3936492"/>
            <a:ext cx="2651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Separate 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393692"/>
            <a:ext cx="30632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Technical report = production. Visual report = user understanding and purchase.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Goal: make the report useful for the final technical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NotebookLM prompt for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Students can copy this and adapt it to their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93392"/>
            <a:ext cx="10469880" cy="3127248"/>
          </a:xfrm>
          <a:prstGeom prst="roundRect">
            <a:avLst/>
          </a:prstGeom>
          <a:solidFill>
            <a:srgbClr val="23292D"/>
          </a:solidFill>
          <a:ln>
            <a:solidFill>
              <a:srgbClr val="23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304288"/>
            <a:ext cx="9921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rPr dirty="0"/>
              <a:t>Using only the uploaded sources, create a Session 4 report titled “Technical Drawings, Exploded View and Preliminary BOM”.</a:t>
            </a:r>
            <a:br>
              <a:rPr dirty="0"/>
            </a:br>
            <a:br>
              <a:rPr dirty="0"/>
            </a:br>
            <a:r>
              <a:rPr dirty="0"/>
              <a:t>Include: product architecture, parts breakdown, manufactured parts, commercial parts, exploded view description, drawing checklist, preliminary BOM, assembly sequence, technical risks, missing information and next steps.</a:t>
            </a:r>
            <a:br>
              <a:rPr dirty="0"/>
            </a:br>
            <a:br>
              <a:rPr dirty="0"/>
            </a:br>
            <a:r>
              <a:rPr dirty="0"/>
              <a:t>Create a BOM table with: Part / Component, Quantity, Type, Material, Process or Supplier, Estimated Cost, Function and Status.</a:t>
            </a:r>
            <a:br>
              <a:rPr dirty="0"/>
            </a:br>
            <a:br>
              <a:rPr dirty="0"/>
            </a:br>
            <a:r>
              <a:rPr dirty="0"/>
              <a:t>Do not invent final data. If information is missing, write “to be defined”, “needs measurement” or “needs evidence”.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NotebookLM creates a draft. Teams must edit, verify and add their own drawings and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3D"/>
                </a:solidFill>
                <a:latin typeface="Aptos Display"/>
              </a:defRPr>
            </a:pPr>
            <a:r>
              <a:t>End-of-class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068"/>
                </a:solidFill>
                <a:latin typeface="Aptos"/>
              </a:defRPr>
            </a:pPr>
            <a:r>
              <a:t>By the end of Session 4, each team should leave with these four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234440"/>
            <a:ext cx="10149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6152" y="1399032"/>
            <a:ext cx="9710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1. Parts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1645920"/>
            <a:ext cx="97383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rPr dirty="0"/>
              <a:t>All pieces, modules, commercial parts and consumables.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86000"/>
            <a:ext cx="10149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450592"/>
            <a:ext cx="9710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2. First exploded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697480"/>
            <a:ext cx="97383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Labeled sketch or CAD screenshot showing how parts 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37560"/>
            <a:ext cx="10149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" y="3502152"/>
            <a:ext cx="9710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5F"/>
                </a:solidFill>
                <a:latin typeface="Aptos"/>
              </a:defRPr>
            </a:pPr>
            <a:r>
              <a:t>3. Preliminary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3749040"/>
            <a:ext cx="97383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Rows with quantity, material, process, supplier/cost and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389120"/>
            <a:ext cx="10149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16152" y="4553712"/>
            <a:ext cx="9710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7000"/>
                </a:solidFill>
                <a:latin typeface="Aptos"/>
              </a:defRPr>
            </a:pPr>
            <a:r>
              <a:t>4. Drawing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4800600"/>
            <a:ext cx="97383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B20"/>
                </a:solidFill>
                <a:latin typeface="Aptos"/>
              </a:defRPr>
            </a:pPr>
            <a:r>
              <a:t>List of drawings needed before the final technical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B3D"/>
                </a:solidFill>
                <a:latin typeface="Aptos"/>
              </a:defRPr>
            </a:pPr>
            <a:r>
              <a:t>Session 4 is not about making perfect plans yet. It is about knowing exactly what must be drawn, bought, made and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276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068"/>
                </a:solidFill>
                <a:latin typeface="Aptos"/>
              </a:defRPr>
            </a:pPr>
            <a:r>
              <a:t>Next: ergonomics, validation, production manual and final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946</Words>
  <Application>Microsoft Macintosh PowerPoint</Application>
  <PresentationFormat>Panorámica</PresentationFormat>
  <Paragraphs>178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2026-05-26T00:49:31Z</dcterms:modified>
  <cp:category/>
</cp:coreProperties>
</file>