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7"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3"/>
    <p:restoredTop sz="94610"/>
  </p:normalViewPr>
  <p:slideViewPr>
    <p:cSldViewPr snapToGrid="0" snapToObjects="1">
      <p:cViewPr varScale="1">
        <p:scale>
          <a:sx n="151" d="100"/>
          <a:sy n="151" d="100"/>
        </p:scale>
        <p:origin x="2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159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8"/>
        </a:solidFill>
        <a:effectLst/>
      </p:bgPr>
    </p:bg>
    <p:spTree>
      <p:nvGrpSpPr>
        <p:cNvPr id="1" name=""/>
        <p:cNvGrpSpPr/>
        <p:nvPr/>
      </p:nvGrpSpPr>
      <p:grpSpPr>
        <a:xfrm>
          <a:off x="0" y="0"/>
          <a:ext cx="0" cy="0"/>
          <a:chOff x="0" y="0"/>
          <a:chExt cx="0" cy="0"/>
        </a:xfrm>
      </p:grpSpPr>
      <p:sp>
        <p:nvSpPr>
          <p:cNvPr id="2" name="Shape 0"/>
          <p:cNvSpPr/>
          <p:nvPr/>
        </p:nvSpPr>
        <p:spPr>
          <a:xfrm>
            <a:off x="502920" y="612647"/>
            <a:ext cx="81280" cy="1817285"/>
          </a:xfrm>
          <a:prstGeom prst="rect">
            <a:avLst/>
          </a:prstGeom>
          <a:solidFill>
            <a:srgbClr val="006D6F"/>
          </a:solidFill>
          <a:ln w="12700">
            <a:solidFill>
              <a:srgbClr val="006D6F"/>
            </a:solidFill>
            <a:prstDash val="solid"/>
          </a:ln>
        </p:spPr>
      </p:sp>
      <p:sp>
        <p:nvSpPr>
          <p:cNvPr id="3" name="Text 1"/>
          <p:cNvSpPr/>
          <p:nvPr/>
        </p:nvSpPr>
        <p:spPr>
          <a:xfrm>
            <a:off x="676656" y="585216"/>
            <a:ext cx="1645920" cy="201168"/>
          </a:xfrm>
          <a:prstGeom prst="rect">
            <a:avLst/>
          </a:prstGeom>
          <a:noFill/>
          <a:ln/>
        </p:spPr>
        <p:txBody>
          <a:bodyPr wrap="square" rtlCol="0" anchor="ctr"/>
          <a:lstStyle/>
          <a:p>
            <a:pPr marL="0" indent="0">
              <a:buNone/>
            </a:pPr>
            <a:r>
              <a:rPr lang="en-US" sz="900" b="1" dirty="0">
                <a:solidFill>
                  <a:srgbClr val="F26A1B"/>
                </a:solidFill>
              </a:rPr>
              <a:t>SESSION 5</a:t>
            </a:r>
            <a:endParaRPr lang="en-US" sz="900" dirty="0"/>
          </a:p>
        </p:txBody>
      </p:sp>
      <p:sp>
        <p:nvSpPr>
          <p:cNvPr id="4" name="Text 2"/>
          <p:cNvSpPr/>
          <p:nvPr/>
        </p:nvSpPr>
        <p:spPr>
          <a:xfrm>
            <a:off x="658368" y="868680"/>
            <a:ext cx="4709160" cy="1737360"/>
          </a:xfrm>
          <a:prstGeom prst="rect">
            <a:avLst/>
          </a:prstGeom>
          <a:noFill/>
          <a:ln/>
        </p:spPr>
        <p:txBody>
          <a:bodyPr wrap="square" lIns="0" tIns="0" rIns="0" bIns="0" rtlCol="0" anchor="ctr"/>
          <a:lstStyle/>
          <a:p>
            <a:pPr marL="0" indent="0">
              <a:buNone/>
            </a:pPr>
            <a:r>
              <a:rPr lang="en-US" sz="3400" b="1" dirty="0">
                <a:solidFill>
                  <a:srgbClr val="233033"/>
                </a:solidFill>
                <a:latin typeface="Aptos Display" pitchFamily="34" charset="0"/>
                <a:ea typeface="Aptos Display" pitchFamily="34" charset="-122"/>
                <a:cs typeface="Aptos Display" pitchFamily="34" charset="-120"/>
              </a:rPr>
              <a:t>Ergonomics,</a:t>
            </a:r>
            <a:endParaRPr lang="en-US" sz="3400" dirty="0"/>
          </a:p>
          <a:p>
            <a:pPr marL="0" indent="0">
              <a:buNone/>
            </a:pPr>
            <a:r>
              <a:rPr lang="en-US" sz="3400" b="1" dirty="0">
                <a:solidFill>
                  <a:srgbClr val="233033"/>
                </a:solidFill>
                <a:latin typeface="Aptos Display" pitchFamily="34" charset="0"/>
                <a:ea typeface="Aptos Display" pitchFamily="34" charset="-122"/>
                <a:cs typeface="Aptos Display" pitchFamily="34" charset="-120"/>
              </a:rPr>
              <a:t>Use Diagrams</a:t>
            </a:r>
            <a:endParaRPr lang="en-US" sz="3400" dirty="0"/>
          </a:p>
          <a:p>
            <a:pPr marL="0" indent="0">
              <a:buNone/>
            </a:pPr>
            <a:r>
              <a:rPr lang="en-US" sz="3400" b="1" dirty="0">
                <a:solidFill>
                  <a:srgbClr val="233033"/>
                </a:solidFill>
                <a:latin typeface="Aptos Display" pitchFamily="34" charset="0"/>
                <a:ea typeface="Aptos Display" pitchFamily="34" charset="-122"/>
                <a:cs typeface="Aptos Display" pitchFamily="34" charset="-120"/>
              </a:rPr>
              <a:t>and Validation Plan</a:t>
            </a:r>
            <a:endParaRPr lang="en-US" sz="3400" dirty="0"/>
          </a:p>
        </p:txBody>
      </p:sp>
      <p:sp>
        <p:nvSpPr>
          <p:cNvPr id="5" name="Text 3"/>
          <p:cNvSpPr/>
          <p:nvPr/>
        </p:nvSpPr>
        <p:spPr>
          <a:xfrm>
            <a:off x="694944" y="2852928"/>
            <a:ext cx="4434840" cy="548640"/>
          </a:xfrm>
          <a:prstGeom prst="rect">
            <a:avLst/>
          </a:prstGeom>
          <a:noFill/>
          <a:ln/>
        </p:spPr>
        <p:txBody>
          <a:bodyPr wrap="square" lIns="0" tIns="0" rIns="0" bIns="0" rtlCol="0" anchor="ctr">
            <a:normAutofit/>
          </a:bodyPr>
          <a:lstStyle/>
          <a:p>
            <a:pPr marL="0" indent="0">
              <a:buNone/>
            </a:pPr>
            <a:r>
              <a:rPr lang="en-US" sz="1600" dirty="0">
                <a:solidFill>
                  <a:srgbClr val="6B7478"/>
                </a:solidFill>
              </a:rPr>
              <a:t>Turning product specifications into user interaction, safety criteria and test evidence.</a:t>
            </a:r>
            <a:endParaRPr lang="en-US" sz="1600" dirty="0"/>
          </a:p>
        </p:txBody>
      </p:sp>
      <p:pic>
        <p:nvPicPr>
          <p:cNvPr id="6" name="Image 0" descr="/mnt/data/wide_studio_desk_scene_in_bright_clean_lighting_w.png"/>
          <p:cNvPicPr>
            <a:picLocks noChangeAspect="1"/>
          </p:cNvPicPr>
          <p:nvPr/>
        </p:nvPicPr>
        <p:blipFill>
          <a:blip r:embed="rId3"/>
          <a:srcRect l="19259" r="19259"/>
          <a:stretch/>
        </p:blipFill>
        <p:spPr>
          <a:xfrm>
            <a:off x="5669280" y="502920"/>
            <a:ext cx="5943600" cy="5440680"/>
          </a:xfrm>
          <a:prstGeom prst="rect">
            <a:avLst/>
          </a:prstGeom>
        </p:spPr>
      </p:pic>
      <p:sp>
        <p:nvSpPr>
          <p:cNvPr id="7" name="Shape 4"/>
          <p:cNvSpPr/>
          <p:nvPr/>
        </p:nvSpPr>
        <p:spPr>
          <a:xfrm>
            <a:off x="713232" y="3794760"/>
            <a:ext cx="1508760" cy="320040"/>
          </a:xfrm>
          <a:prstGeom prst="roundRect">
            <a:avLst>
              <a:gd name="adj" fmla="val 14286"/>
            </a:avLst>
          </a:prstGeom>
          <a:solidFill>
            <a:srgbClr val="006D6F"/>
          </a:solidFill>
          <a:ln w="12700">
            <a:solidFill>
              <a:srgbClr val="006D6F">
                <a:alpha val="0"/>
              </a:srgbClr>
            </a:solidFill>
            <a:prstDash val="solid"/>
          </a:ln>
        </p:spPr>
      </p:sp>
      <p:sp>
        <p:nvSpPr>
          <p:cNvPr id="8" name="Text 5"/>
          <p:cNvSpPr/>
          <p:nvPr/>
        </p:nvSpPr>
        <p:spPr>
          <a:xfrm>
            <a:off x="768096" y="3872484"/>
            <a:ext cx="1399032" cy="128016"/>
          </a:xfrm>
          <a:prstGeom prst="rect">
            <a:avLst/>
          </a:prstGeom>
          <a:noFill/>
          <a:ln/>
        </p:spPr>
        <p:txBody>
          <a:bodyPr wrap="square" lIns="0" tIns="0" rIns="0" bIns="0" rtlCol="0" anchor="ctr"/>
          <a:lstStyle/>
          <a:p>
            <a:pPr marL="0" indent="0" algn="ctr">
              <a:buNone/>
            </a:pPr>
            <a:r>
              <a:rPr lang="en-US" sz="850" b="1" dirty="0">
                <a:solidFill>
                  <a:srgbClr val="FFFFFF"/>
                </a:solidFill>
              </a:rPr>
              <a:t>Technical report fragment</a:t>
            </a:r>
            <a:endParaRPr lang="en-US" sz="850" dirty="0"/>
          </a:p>
        </p:txBody>
      </p:sp>
      <p:sp>
        <p:nvSpPr>
          <p:cNvPr id="9" name="Shape 6"/>
          <p:cNvSpPr/>
          <p:nvPr/>
        </p:nvSpPr>
        <p:spPr>
          <a:xfrm>
            <a:off x="2423160" y="3794760"/>
            <a:ext cx="1508760" cy="320040"/>
          </a:xfrm>
          <a:prstGeom prst="roundRect">
            <a:avLst>
              <a:gd name="adj" fmla="val 14286"/>
            </a:avLst>
          </a:prstGeom>
          <a:solidFill>
            <a:srgbClr val="F26A1B"/>
          </a:solidFill>
          <a:ln w="12700">
            <a:solidFill>
              <a:srgbClr val="F26A1B">
                <a:alpha val="0"/>
              </a:srgbClr>
            </a:solidFill>
            <a:prstDash val="solid"/>
          </a:ln>
        </p:spPr>
      </p:sp>
      <p:sp>
        <p:nvSpPr>
          <p:cNvPr id="10" name="Text 7"/>
          <p:cNvSpPr/>
          <p:nvPr/>
        </p:nvSpPr>
        <p:spPr>
          <a:xfrm>
            <a:off x="2478024" y="3872484"/>
            <a:ext cx="1399032" cy="128016"/>
          </a:xfrm>
          <a:prstGeom prst="rect">
            <a:avLst/>
          </a:prstGeom>
          <a:noFill/>
          <a:ln/>
        </p:spPr>
        <p:txBody>
          <a:bodyPr wrap="square" lIns="0" tIns="0" rIns="0" bIns="0" rtlCol="0" anchor="ctr"/>
          <a:lstStyle/>
          <a:p>
            <a:pPr marL="0" indent="0" algn="ctr">
              <a:buNone/>
            </a:pPr>
            <a:r>
              <a:rPr lang="en-US" sz="850" b="1" dirty="0">
                <a:solidFill>
                  <a:srgbClr val="FFFFFF"/>
                </a:solidFill>
              </a:rPr>
              <a:t>Evidence-ready</a:t>
            </a:r>
            <a:endParaRPr lang="en-US" sz="850" dirty="0"/>
          </a:p>
        </p:txBody>
      </p:sp>
      <p:sp>
        <p:nvSpPr>
          <p:cNvPr id="11" name="Text 8"/>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SESSION 5</a:t>
            </a:r>
            <a:endParaRPr lang="en-US" sz="850" dirty="0"/>
          </a:p>
        </p:txBody>
      </p:sp>
      <p:sp>
        <p:nvSpPr>
          <p:cNvPr id="3" name="Text 1"/>
          <p:cNvSpPr/>
          <p:nvPr/>
        </p:nvSpPr>
        <p:spPr>
          <a:xfrm>
            <a:off x="502920"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Why this session matters</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Text 3"/>
          <p:cNvSpPr/>
          <p:nvPr/>
        </p:nvSpPr>
        <p:spPr>
          <a:xfrm>
            <a:off x="502920" y="1979675"/>
            <a:ext cx="5120640" cy="502920"/>
          </a:xfrm>
          <a:prstGeom prst="rect">
            <a:avLst/>
          </a:prstGeom>
          <a:noFill/>
          <a:ln/>
        </p:spPr>
        <p:txBody>
          <a:bodyPr wrap="square" lIns="254" tIns="254" rIns="254" bIns="254" rtlCol="0" anchor="ctr">
            <a:normAutofit fontScale="92500" lnSpcReduction="20000"/>
          </a:bodyPr>
          <a:lstStyle/>
          <a:p>
            <a:pPr marL="0" indent="0">
              <a:buNone/>
            </a:pPr>
            <a:r>
              <a:rPr lang="en-US" sz="2200" b="1" dirty="0">
                <a:solidFill>
                  <a:srgbClr val="006D6F"/>
                </a:solidFill>
                <a:latin typeface="Aptos Display" pitchFamily="34" charset="0"/>
                <a:ea typeface="Aptos Display" pitchFamily="34" charset="-122"/>
                <a:cs typeface="Aptos Display" pitchFamily="34" charset="-120"/>
              </a:rPr>
              <a:t>From “it should work” to “we can prove it works.”</a:t>
            </a:r>
            <a:endParaRPr lang="en-US" sz="2200" dirty="0"/>
          </a:p>
        </p:txBody>
      </p:sp>
      <p:sp>
        <p:nvSpPr>
          <p:cNvPr id="6" name="Text 4"/>
          <p:cNvSpPr/>
          <p:nvPr/>
        </p:nvSpPr>
        <p:spPr>
          <a:xfrm>
            <a:off x="502920" y="2793492"/>
            <a:ext cx="5074920" cy="1051560"/>
          </a:xfrm>
          <a:prstGeom prst="rect">
            <a:avLst/>
          </a:prstGeom>
          <a:noFill/>
          <a:ln/>
        </p:spPr>
        <p:txBody>
          <a:bodyPr wrap="square" lIns="635" tIns="635" rIns="635" bIns="635" rtlCol="0" anchor="ctr">
            <a:normAutofit/>
          </a:bodyPr>
          <a:lstStyle/>
          <a:p>
            <a:pPr marL="0" indent="0">
              <a:buNone/>
            </a:pPr>
            <a:r>
              <a:rPr lang="en-US" sz="1600" dirty="0">
                <a:solidFill>
                  <a:srgbClr val="6B7478"/>
                </a:solidFill>
                <a:latin typeface="Aptos" pitchFamily="34" charset="0"/>
                <a:ea typeface="Aptos" pitchFamily="34" charset="-122"/>
                <a:cs typeface="Aptos" pitchFamily="34" charset="-120"/>
              </a:rPr>
              <a:t>Reports already have concept, requirements, materials, parts and BOM direction. Must explain how the product is used, where it touches the user or context, what could fail, and what evidence will prove performance.</a:t>
            </a:r>
            <a:endParaRPr lang="en-US" sz="1600" dirty="0"/>
          </a:p>
        </p:txBody>
      </p:sp>
      <p:sp>
        <p:nvSpPr>
          <p:cNvPr id="7" name="Shape 5"/>
          <p:cNvSpPr/>
          <p:nvPr/>
        </p:nvSpPr>
        <p:spPr>
          <a:xfrm>
            <a:off x="6309360" y="1860803"/>
            <a:ext cx="1828800" cy="2057400"/>
          </a:xfrm>
          <a:prstGeom prst="roundRect">
            <a:avLst>
              <a:gd name="adj" fmla="val 3500"/>
            </a:avLst>
          </a:prstGeom>
          <a:solidFill>
            <a:srgbClr val="FFFFFF"/>
          </a:solidFill>
          <a:ln w="10160">
            <a:solidFill>
              <a:srgbClr val="D7E0E0"/>
            </a:solidFill>
            <a:prstDash val="solid"/>
          </a:ln>
        </p:spPr>
      </p:sp>
      <p:sp>
        <p:nvSpPr>
          <p:cNvPr id="8" name="Shape 6"/>
          <p:cNvSpPr/>
          <p:nvPr/>
        </p:nvSpPr>
        <p:spPr>
          <a:xfrm>
            <a:off x="6309360" y="1860803"/>
            <a:ext cx="82296" cy="2057400"/>
          </a:xfrm>
          <a:prstGeom prst="rect">
            <a:avLst/>
          </a:prstGeom>
          <a:solidFill>
            <a:srgbClr val="6B7478"/>
          </a:solidFill>
          <a:ln w="12700">
            <a:solidFill>
              <a:srgbClr val="6B7478">
                <a:alpha val="0"/>
              </a:srgbClr>
            </a:solidFill>
            <a:prstDash val="solid"/>
          </a:ln>
        </p:spPr>
      </p:sp>
      <p:sp>
        <p:nvSpPr>
          <p:cNvPr id="9" name="Text 7"/>
          <p:cNvSpPr/>
          <p:nvPr/>
        </p:nvSpPr>
        <p:spPr>
          <a:xfrm>
            <a:off x="6528816" y="2025395"/>
            <a:ext cx="1481328" cy="237744"/>
          </a:xfrm>
          <a:prstGeom prst="rect">
            <a:avLst/>
          </a:prstGeom>
          <a:noFill/>
          <a:ln/>
        </p:spPr>
        <p:txBody>
          <a:bodyPr wrap="square" lIns="0" tIns="0" rIns="0" bIns="0" rtlCol="0" anchor="ctr"/>
          <a:lstStyle/>
          <a:p>
            <a:pPr marL="0" indent="0">
              <a:buNone/>
            </a:pPr>
            <a:r>
              <a:rPr lang="en-US" sz="1400" b="1" dirty="0">
                <a:solidFill>
                  <a:srgbClr val="233033"/>
                </a:solidFill>
              </a:rPr>
              <a:t>Before</a:t>
            </a:r>
            <a:endParaRPr lang="en-US" sz="1400" dirty="0"/>
          </a:p>
        </p:txBody>
      </p:sp>
      <p:sp>
        <p:nvSpPr>
          <p:cNvPr id="10" name="Text 8"/>
          <p:cNvSpPr/>
          <p:nvPr/>
        </p:nvSpPr>
        <p:spPr>
          <a:xfrm>
            <a:off x="6528816" y="2391155"/>
            <a:ext cx="1481328" cy="139903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Concept</a:t>
            </a:r>
            <a:endParaRPr lang="en-US" sz="1400" dirty="0"/>
          </a:p>
          <a:p>
            <a:pPr marL="0" indent="0">
              <a:buNone/>
            </a:pPr>
            <a:r>
              <a:rPr lang="en-US" sz="1400" dirty="0">
                <a:solidFill>
                  <a:srgbClr val="6B7478"/>
                </a:solidFill>
              </a:rPr>
              <a:t>Requirements</a:t>
            </a:r>
            <a:endParaRPr lang="en-US" sz="1400" dirty="0"/>
          </a:p>
          <a:p>
            <a:pPr marL="0" indent="0">
              <a:buNone/>
            </a:pPr>
            <a:r>
              <a:rPr lang="en-US" sz="1400" dirty="0">
                <a:solidFill>
                  <a:srgbClr val="6B7478"/>
                </a:solidFill>
              </a:rPr>
              <a:t>Materials</a:t>
            </a:r>
            <a:endParaRPr lang="en-US" sz="1400" dirty="0"/>
          </a:p>
          <a:p>
            <a:pPr marL="0" indent="0">
              <a:buNone/>
            </a:pPr>
            <a:r>
              <a:rPr lang="en-US" sz="1400" dirty="0">
                <a:solidFill>
                  <a:srgbClr val="6B7478"/>
                </a:solidFill>
              </a:rPr>
              <a:t>Parts list</a:t>
            </a:r>
            <a:endParaRPr lang="en-US" sz="1400" dirty="0"/>
          </a:p>
        </p:txBody>
      </p:sp>
      <p:sp>
        <p:nvSpPr>
          <p:cNvPr id="11" name="Shape 9"/>
          <p:cNvSpPr/>
          <p:nvPr/>
        </p:nvSpPr>
        <p:spPr>
          <a:xfrm>
            <a:off x="8321040" y="1860803"/>
            <a:ext cx="1828800" cy="2057400"/>
          </a:xfrm>
          <a:prstGeom prst="roundRect">
            <a:avLst>
              <a:gd name="adj" fmla="val 3500"/>
            </a:avLst>
          </a:prstGeom>
          <a:solidFill>
            <a:srgbClr val="FFFFFF"/>
          </a:solidFill>
          <a:ln w="10160">
            <a:solidFill>
              <a:srgbClr val="D7E0E0"/>
            </a:solidFill>
            <a:prstDash val="solid"/>
          </a:ln>
        </p:spPr>
      </p:sp>
      <p:sp>
        <p:nvSpPr>
          <p:cNvPr id="12" name="Shape 10"/>
          <p:cNvSpPr/>
          <p:nvPr/>
        </p:nvSpPr>
        <p:spPr>
          <a:xfrm>
            <a:off x="8321040" y="1860803"/>
            <a:ext cx="82296" cy="2057400"/>
          </a:xfrm>
          <a:prstGeom prst="rect">
            <a:avLst/>
          </a:prstGeom>
          <a:solidFill>
            <a:srgbClr val="F26A1B"/>
          </a:solidFill>
          <a:ln w="12700">
            <a:solidFill>
              <a:srgbClr val="F26A1B">
                <a:alpha val="0"/>
              </a:srgbClr>
            </a:solidFill>
            <a:prstDash val="solid"/>
          </a:ln>
        </p:spPr>
      </p:sp>
      <p:sp>
        <p:nvSpPr>
          <p:cNvPr id="13" name="Text 11"/>
          <p:cNvSpPr/>
          <p:nvPr/>
        </p:nvSpPr>
        <p:spPr>
          <a:xfrm>
            <a:off x="8540496" y="2025395"/>
            <a:ext cx="1481328" cy="237744"/>
          </a:xfrm>
          <a:prstGeom prst="rect">
            <a:avLst/>
          </a:prstGeom>
          <a:noFill/>
          <a:ln/>
        </p:spPr>
        <p:txBody>
          <a:bodyPr wrap="square" lIns="0" tIns="0" rIns="0" bIns="0" rtlCol="0" anchor="ctr"/>
          <a:lstStyle/>
          <a:p>
            <a:pPr marL="0" indent="0">
              <a:buNone/>
            </a:pPr>
            <a:r>
              <a:rPr lang="en-US" sz="1400" b="1" dirty="0">
                <a:solidFill>
                  <a:srgbClr val="233033"/>
                </a:solidFill>
              </a:rPr>
              <a:t>Today</a:t>
            </a:r>
            <a:endParaRPr lang="en-US" sz="1400" dirty="0"/>
          </a:p>
        </p:txBody>
      </p:sp>
      <p:sp>
        <p:nvSpPr>
          <p:cNvPr id="14" name="Text 12"/>
          <p:cNvSpPr/>
          <p:nvPr/>
        </p:nvSpPr>
        <p:spPr>
          <a:xfrm>
            <a:off x="8540496" y="2391155"/>
            <a:ext cx="1481328" cy="139903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Use sequence</a:t>
            </a:r>
            <a:endParaRPr lang="en-US" sz="1400" dirty="0"/>
          </a:p>
          <a:p>
            <a:pPr marL="0" indent="0">
              <a:buNone/>
            </a:pPr>
            <a:r>
              <a:rPr lang="en-US" sz="1400" dirty="0">
                <a:solidFill>
                  <a:srgbClr val="6B7478"/>
                </a:solidFill>
              </a:rPr>
              <a:t>Ergonomics</a:t>
            </a:r>
            <a:endParaRPr lang="en-US" sz="1400" dirty="0"/>
          </a:p>
          <a:p>
            <a:pPr marL="0" indent="0">
              <a:buNone/>
            </a:pPr>
            <a:r>
              <a:rPr lang="en-US" sz="1400" dirty="0">
                <a:solidFill>
                  <a:srgbClr val="6B7478"/>
                </a:solidFill>
              </a:rPr>
              <a:t>Risks</a:t>
            </a:r>
            <a:endParaRPr lang="en-US" sz="1400" dirty="0"/>
          </a:p>
          <a:p>
            <a:pPr marL="0" indent="0">
              <a:buNone/>
            </a:pPr>
            <a:r>
              <a:rPr lang="en-US" sz="1400" dirty="0">
                <a:solidFill>
                  <a:srgbClr val="6B7478"/>
                </a:solidFill>
              </a:rPr>
              <a:t>Validation plan</a:t>
            </a:r>
            <a:endParaRPr lang="en-US" sz="1400" dirty="0"/>
          </a:p>
        </p:txBody>
      </p:sp>
      <p:sp>
        <p:nvSpPr>
          <p:cNvPr id="15" name="Shape 13"/>
          <p:cNvSpPr/>
          <p:nvPr/>
        </p:nvSpPr>
        <p:spPr>
          <a:xfrm>
            <a:off x="10424160" y="1234440"/>
            <a:ext cx="1554480" cy="2057400"/>
          </a:xfrm>
          <a:prstGeom prst="roundRect">
            <a:avLst>
              <a:gd name="adj" fmla="val 4118"/>
            </a:avLst>
          </a:prstGeom>
          <a:solidFill>
            <a:srgbClr val="FFFFFF"/>
          </a:solidFill>
          <a:ln w="10160">
            <a:solidFill>
              <a:srgbClr val="D7E0E0"/>
            </a:solidFill>
            <a:prstDash val="solid"/>
          </a:ln>
        </p:spPr>
      </p:sp>
      <p:sp>
        <p:nvSpPr>
          <p:cNvPr id="16" name="Shape 14"/>
          <p:cNvSpPr/>
          <p:nvPr/>
        </p:nvSpPr>
        <p:spPr>
          <a:xfrm>
            <a:off x="10332720" y="1860803"/>
            <a:ext cx="82296" cy="2057400"/>
          </a:xfrm>
          <a:prstGeom prst="rect">
            <a:avLst/>
          </a:prstGeom>
          <a:solidFill>
            <a:srgbClr val="006D6F"/>
          </a:solidFill>
          <a:ln w="12700">
            <a:solidFill>
              <a:srgbClr val="006D6F">
                <a:alpha val="0"/>
              </a:srgbClr>
            </a:solidFill>
            <a:prstDash val="solid"/>
          </a:ln>
        </p:spPr>
      </p:sp>
      <p:sp>
        <p:nvSpPr>
          <p:cNvPr id="17" name="Text 15"/>
          <p:cNvSpPr/>
          <p:nvPr/>
        </p:nvSpPr>
        <p:spPr>
          <a:xfrm>
            <a:off x="10552176" y="2025395"/>
            <a:ext cx="1207008" cy="237744"/>
          </a:xfrm>
          <a:prstGeom prst="rect">
            <a:avLst/>
          </a:prstGeom>
          <a:noFill/>
          <a:ln/>
        </p:spPr>
        <p:txBody>
          <a:bodyPr wrap="square" lIns="0" tIns="0" rIns="0" bIns="0" rtlCol="0" anchor="ctr"/>
          <a:lstStyle/>
          <a:p>
            <a:pPr marL="0" indent="0">
              <a:buNone/>
            </a:pPr>
            <a:r>
              <a:rPr lang="en-US" sz="1400" b="1" dirty="0">
                <a:solidFill>
                  <a:srgbClr val="233033"/>
                </a:solidFill>
              </a:rPr>
              <a:t>After</a:t>
            </a:r>
            <a:endParaRPr lang="en-US" sz="1400" dirty="0"/>
          </a:p>
        </p:txBody>
      </p:sp>
      <p:sp>
        <p:nvSpPr>
          <p:cNvPr id="18" name="Text 16"/>
          <p:cNvSpPr/>
          <p:nvPr/>
        </p:nvSpPr>
        <p:spPr>
          <a:xfrm>
            <a:off x="10552176" y="2391155"/>
            <a:ext cx="1207008" cy="139903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Final tests</a:t>
            </a:r>
            <a:endParaRPr lang="en-US" sz="1400" dirty="0"/>
          </a:p>
          <a:p>
            <a:pPr marL="0" indent="0">
              <a:buNone/>
            </a:pPr>
            <a:r>
              <a:rPr lang="en-US" sz="1400" dirty="0">
                <a:solidFill>
                  <a:srgbClr val="6B7478"/>
                </a:solidFill>
              </a:rPr>
              <a:t>Evidence</a:t>
            </a:r>
            <a:endParaRPr lang="en-US" sz="1400" dirty="0"/>
          </a:p>
          <a:p>
            <a:pPr marL="0" indent="0">
              <a:buNone/>
            </a:pPr>
            <a:r>
              <a:rPr lang="en-US" sz="1400" dirty="0">
                <a:solidFill>
                  <a:srgbClr val="6B7478"/>
                </a:solidFill>
              </a:rPr>
              <a:t>Production report</a:t>
            </a:r>
            <a:endParaRPr lang="en-US" sz="1400" dirty="0"/>
          </a:p>
        </p:txBody>
      </p:sp>
      <p:sp>
        <p:nvSpPr>
          <p:cNvPr id="19" name="Shape 17"/>
          <p:cNvSpPr/>
          <p:nvPr/>
        </p:nvSpPr>
        <p:spPr>
          <a:xfrm>
            <a:off x="502920" y="4558283"/>
            <a:ext cx="11155680" cy="1051560"/>
          </a:xfrm>
          <a:prstGeom prst="roundRect">
            <a:avLst>
              <a:gd name="adj" fmla="val 6087"/>
            </a:avLst>
          </a:prstGeom>
          <a:solidFill>
            <a:srgbClr val="FFFFFF"/>
          </a:solidFill>
          <a:ln w="10160">
            <a:solidFill>
              <a:srgbClr val="D7E0E0"/>
            </a:solidFill>
            <a:prstDash val="solid"/>
          </a:ln>
        </p:spPr>
      </p:sp>
      <p:sp>
        <p:nvSpPr>
          <p:cNvPr id="20" name="Shape 18"/>
          <p:cNvSpPr/>
          <p:nvPr/>
        </p:nvSpPr>
        <p:spPr>
          <a:xfrm>
            <a:off x="502920" y="4558283"/>
            <a:ext cx="82296" cy="1051560"/>
          </a:xfrm>
          <a:prstGeom prst="rect">
            <a:avLst/>
          </a:prstGeom>
          <a:solidFill>
            <a:srgbClr val="7EB77F"/>
          </a:solidFill>
          <a:ln w="12700">
            <a:solidFill>
              <a:srgbClr val="7EB77F">
                <a:alpha val="0"/>
              </a:srgbClr>
            </a:solidFill>
            <a:prstDash val="solid"/>
          </a:ln>
        </p:spPr>
      </p:sp>
      <p:sp>
        <p:nvSpPr>
          <p:cNvPr id="21" name="Text 19"/>
          <p:cNvSpPr/>
          <p:nvPr/>
        </p:nvSpPr>
        <p:spPr>
          <a:xfrm>
            <a:off x="722376" y="4722875"/>
            <a:ext cx="10808208" cy="237744"/>
          </a:xfrm>
          <a:prstGeom prst="rect">
            <a:avLst/>
          </a:prstGeom>
          <a:noFill/>
          <a:ln/>
        </p:spPr>
        <p:txBody>
          <a:bodyPr wrap="square" lIns="0" tIns="0" rIns="0" bIns="0" rtlCol="0" anchor="ctr"/>
          <a:lstStyle/>
          <a:p>
            <a:pPr marL="0" indent="0">
              <a:buNone/>
            </a:pPr>
            <a:r>
              <a:rPr lang="en-US" sz="1400" b="1" dirty="0">
                <a:solidFill>
                  <a:srgbClr val="233033"/>
                </a:solidFill>
              </a:rPr>
              <a:t>Key idea</a:t>
            </a:r>
            <a:endParaRPr lang="en-US" sz="1400" dirty="0"/>
          </a:p>
        </p:txBody>
      </p:sp>
      <p:sp>
        <p:nvSpPr>
          <p:cNvPr id="22" name="Text 20"/>
          <p:cNvSpPr/>
          <p:nvPr/>
        </p:nvSpPr>
        <p:spPr>
          <a:xfrm>
            <a:off x="722376" y="5088635"/>
            <a:ext cx="10808208" cy="393192"/>
          </a:xfrm>
          <a:prstGeom prst="rect">
            <a:avLst/>
          </a:prstGeom>
          <a:noFill/>
          <a:ln/>
        </p:spPr>
        <p:txBody>
          <a:bodyPr wrap="square" lIns="254" tIns="254" rIns="254" bIns="254" rtlCol="0" anchor="ctr">
            <a:noAutofit/>
          </a:bodyPr>
          <a:lstStyle/>
          <a:p>
            <a:pPr marL="0" indent="0">
              <a:buNone/>
            </a:pPr>
            <a:r>
              <a:rPr lang="en-US" sz="1400" dirty="0">
                <a:solidFill>
                  <a:srgbClr val="6B7478"/>
                </a:solidFill>
              </a:rPr>
              <a:t>The report must not only describe the product. It must explain how the user interacts with it and how the team will test comfort, safety, stability, ease of use and performance.</a:t>
            </a:r>
            <a:endParaRPr lang="en-US" sz="1400" dirty="0"/>
          </a:p>
        </p:txBody>
      </p:sp>
      <p:sp>
        <p:nvSpPr>
          <p:cNvPr id="23" name="Text 21"/>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DELIVERABLE</a:t>
            </a:r>
            <a:endParaRPr lang="en-US" sz="850" dirty="0"/>
          </a:p>
        </p:txBody>
      </p:sp>
      <p:sp>
        <p:nvSpPr>
          <p:cNvPr id="3" name="Text 1"/>
          <p:cNvSpPr/>
          <p:nvPr/>
        </p:nvSpPr>
        <p:spPr>
          <a:xfrm>
            <a:off x="502920"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Session 5 report structure</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Shape 3"/>
          <p:cNvSpPr/>
          <p:nvPr/>
        </p:nvSpPr>
        <p:spPr>
          <a:xfrm>
            <a:off x="502920" y="1943947"/>
            <a:ext cx="3429000" cy="1417320"/>
          </a:xfrm>
          <a:prstGeom prst="roundRect">
            <a:avLst>
              <a:gd name="adj" fmla="val 4516"/>
            </a:avLst>
          </a:prstGeom>
          <a:solidFill>
            <a:srgbClr val="FFFFFF"/>
          </a:solidFill>
          <a:ln w="10160">
            <a:solidFill>
              <a:srgbClr val="D7E0E0"/>
            </a:solidFill>
            <a:prstDash val="solid"/>
          </a:ln>
        </p:spPr>
      </p:sp>
      <p:sp>
        <p:nvSpPr>
          <p:cNvPr id="6" name="Shape 4"/>
          <p:cNvSpPr/>
          <p:nvPr/>
        </p:nvSpPr>
        <p:spPr>
          <a:xfrm>
            <a:off x="502920" y="1943947"/>
            <a:ext cx="82296" cy="1417320"/>
          </a:xfrm>
          <a:prstGeom prst="rect">
            <a:avLst/>
          </a:prstGeom>
          <a:solidFill>
            <a:srgbClr val="F26A1B"/>
          </a:solidFill>
          <a:ln w="12700">
            <a:solidFill>
              <a:srgbClr val="F26A1B">
                <a:alpha val="0"/>
              </a:srgbClr>
            </a:solidFill>
            <a:prstDash val="solid"/>
          </a:ln>
        </p:spPr>
      </p:sp>
      <p:sp>
        <p:nvSpPr>
          <p:cNvPr id="7" name="Text 5"/>
          <p:cNvSpPr/>
          <p:nvPr/>
        </p:nvSpPr>
        <p:spPr>
          <a:xfrm>
            <a:off x="722376" y="210853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01  User-product interaction</a:t>
            </a:r>
            <a:endParaRPr lang="en-US" sz="1400" dirty="0"/>
          </a:p>
        </p:txBody>
      </p:sp>
      <p:sp>
        <p:nvSpPr>
          <p:cNvPr id="8" name="Text 6"/>
          <p:cNvSpPr/>
          <p:nvPr/>
        </p:nvSpPr>
        <p:spPr>
          <a:xfrm>
            <a:off x="722376" y="247429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How the user touches, wears, carries, opens, closes, adjusts or transforms the product.</a:t>
            </a:r>
            <a:endParaRPr lang="en-US" sz="1400" dirty="0"/>
          </a:p>
        </p:txBody>
      </p:sp>
      <p:sp>
        <p:nvSpPr>
          <p:cNvPr id="9" name="Shape 7"/>
          <p:cNvSpPr/>
          <p:nvPr/>
        </p:nvSpPr>
        <p:spPr>
          <a:xfrm>
            <a:off x="4251960" y="1943947"/>
            <a:ext cx="3429000" cy="1417320"/>
          </a:xfrm>
          <a:prstGeom prst="roundRect">
            <a:avLst>
              <a:gd name="adj" fmla="val 4516"/>
            </a:avLst>
          </a:prstGeom>
          <a:solidFill>
            <a:srgbClr val="FFFFFF"/>
          </a:solidFill>
          <a:ln w="10160">
            <a:solidFill>
              <a:srgbClr val="D7E0E0"/>
            </a:solidFill>
            <a:prstDash val="solid"/>
          </a:ln>
        </p:spPr>
      </p:sp>
      <p:sp>
        <p:nvSpPr>
          <p:cNvPr id="10" name="Shape 8"/>
          <p:cNvSpPr/>
          <p:nvPr/>
        </p:nvSpPr>
        <p:spPr>
          <a:xfrm>
            <a:off x="4251960" y="1943947"/>
            <a:ext cx="82296" cy="1417320"/>
          </a:xfrm>
          <a:prstGeom prst="rect">
            <a:avLst/>
          </a:prstGeom>
          <a:solidFill>
            <a:srgbClr val="006D6F"/>
          </a:solidFill>
          <a:ln w="12700">
            <a:solidFill>
              <a:srgbClr val="006D6F">
                <a:alpha val="0"/>
              </a:srgbClr>
            </a:solidFill>
            <a:prstDash val="solid"/>
          </a:ln>
        </p:spPr>
      </p:sp>
      <p:sp>
        <p:nvSpPr>
          <p:cNvPr id="11" name="Text 9"/>
          <p:cNvSpPr/>
          <p:nvPr/>
        </p:nvSpPr>
        <p:spPr>
          <a:xfrm>
            <a:off x="4471416" y="210853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02  Use sequence</a:t>
            </a:r>
            <a:endParaRPr lang="en-US" sz="1400" dirty="0"/>
          </a:p>
        </p:txBody>
      </p:sp>
      <p:sp>
        <p:nvSpPr>
          <p:cNvPr id="12" name="Text 10"/>
          <p:cNvSpPr/>
          <p:nvPr/>
        </p:nvSpPr>
        <p:spPr>
          <a:xfrm>
            <a:off x="4471416" y="247429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Visual step-by-step explanation of the product in use.</a:t>
            </a:r>
            <a:endParaRPr lang="en-US" sz="1400" dirty="0"/>
          </a:p>
        </p:txBody>
      </p:sp>
      <p:sp>
        <p:nvSpPr>
          <p:cNvPr id="13" name="Shape 11"/>
          <p:cNvSpPr/>
          <p:nvPr/>
        </p:nvSpPr>
        <p:spPr>
          <a:xfrm>
            <a:off x="8001000" y="1943947"/>
            <a:ext cx="3429000" cy="1417320"/>
          </a:xfrm>
          <a:prstGeom prst="roundRect">
            <a:avLst>
              <a:gd name="adj" fmla="val 4516"/>
            </a:avLst>
          </a:prstGeom>
          <a:solidFill>
            <a:srgbClr val="FFFFFF"/>
          </a:solidFill>
          <a:ln w="10160">
            <a:solidFill>
              <a:srgbClr val="D7E0E0"/>
            </a:solidFill>
            <a:prstDash val="solid"/>
          </a:ln>
        </p:spPr>
      </p:sp>
      <p:sp>
        <p:nvSpPr>
          <p:cNvPr id="14" name="Shape 12"/>
          <p:cNvSpPr/>
          <p:nvPr/>
        </p:nvSpPr>
        <p:spPr>
          <a:xfrm>
            <a:off x="8001000" y="1943947"/>
            <a:ext cx="82296" cy="1417320"/>
          </a:xfrm>
          <a:prstGeom prst="rect">
            <a:avLst/>
          </a:prstGeom>
          <a:solidFill>
            <a:srgbClr val="F26A1B"/>
          </a:solidFill>
          <a:ln w="12700">
            <a:solidFill>
              <a:srgbClr val="F26A1B">
                <a:alpha val="0"/>
              </a:srgbClr>
            </a:solidFill>
            <a:prstDash val="solid"/>
          </a:ln>
        </p:spPr>
      </p:sp>
      <p:sp>
        <p:nvSpPr>
          <p:cNvPr id="15" name="Text 13"/>
          <p:cNvSpPr/>
          <p:nvPr/>
        </p:nvSpPr>
        <p:spPr>
          <a:xfrm>
            <a:off x="8220456" y="210853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03  Ergonomic analysis</a:t>
            </a:r>
            <a:endParaRPr lang="en-US" sz="1400" dirty="0"/>
          </a:p>
        </p:txBody>
      </p:sp>
      <p:sp>
        <p:nvSpPr>
          <p:cNvPr id="16" name="Text 14"/>
          <p:cNvSpPr/>
          <p:nvPr/>
        </p:nvSpPr>
        <p:spPr>
          <a:xfrm>
            <a:off x="8220456" y="247429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Posture, grip, load, pressure, fit, movement and comfort.</a:t>
            </a:r>
            <a:endParaRPr lang="en-US" sz="1400" dirty="0"/>
          </a:p>
        </p:txBody>
      </p:sp>
      <p:sp>
        <p:nvSpPr>
          <p:cNvPr id="17" name="Shape 15"/>
          <p:cNvSpPr/>
          <p:nvPr/>
        </p:nvSpPr>
        <p:spPr>
          <a:xfrm>
            <a:off x="502920" y="3818467"/>
            <a:ext cx="3429000" cy="1417320"/>
          </a:xfrm>
          <a:prstGeom prst="roundRect">
            <a:avLst>
              <a:gd name="adj" fmla="val 4516"/>
            </a:avLst>
          </a:prstGeom>
          <a:solidFill>
            <a:srgbClr val="FFFFFF"/>
          </a:solidFill>
          <a:ln w="10160">
            <a:solidFill>
              <a:srgbClr val="D7E0E0"/>
            </a:solidFill>
            <a:prstDash val="solid"/>
          </a:ln>
        </p:spPr>
      </p:sp>
      <p:sp>
        <p:nvSpPr>
          <p:cNvPr id="18" name="Shape 16"/>
          <p:cNvSpPr/>
          <p:nvPr/>
        </p:nvSpPr>
        <p:spPr>
          <a:xfrm>
            <a:off x="502920" y="3818467"/>
            <a:ext cx="82296" cy="1417320"/>
          </a:xfrm>
          <a:prstGeom prst="rect">
            <a:avLst/>
          </a:prstGeom>
          <a:solidFill>
            <a:srgbClr val="006D6F"/>
          </a:solidFill>
          <a:ln w="12700">
            <a:solidFill>
              <a:srgbClr val="006D6F">
                <a:alpha val="0"/>
              </a:srgbClr>
            </a:solidFill>
            <a:prstDash val="solid"/>
          </a:ln>
        </p:spPr>
      </p:sp>
      <p:sp>
        <p:nvSpPr>
          <p:cNvPr id="19" name="Text 17"/>
          <p:cNvSpPr/>
          <p:nvPr/>
        </p:nvSpPr>
        <p:spPr>
          <a:xfrm>
            <a:off x="722376" y="398305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04  Contact points + risks</a:t>
            </a:r>
            <a:endParaRPr lang="en-US" sz="1400" dirty="0"/>
          </a:p>
        </p:txBody>
      </p:sp>
      <p:sp>
        <p:nvSpPr>
          <p:cNvPr id="20" name="Text 18"/>
          <p:cNvSpPr/>
          <p:nvPr/>
        </p:nvSpPr>
        <p:spPr>
          <a:xfrm>
            <a:off x="722376" y="434881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Where the product touches the body, object, vehicle or environment, and what could fail.</a:t>
            </a:r>
            <a:endParaRPr lang="en-US" sz="1400" dirty="0"/>
          </a:p>
        </p:txBody>
      </p:sp>
      <p:sp>
        <p:nvSpPr>
          <p:cNvPr id="21" name="Shape 19"/>
          <p:cNvSpPr/>
          <p:nvPr/>
        </p:nvSpPr>
        <p:spPr>
          <a:xfrm>
            <a:off x="4251960" y="3818467"/>
            <a:ext cx="3429000" cy="1417320"/>
          </a:xfrm>
          <a:prstGeom prst="roundRect">
            <a:avLst>
              <a:gd name="adj" fmla="val 4516"/>
            </a:avLst>
          </a:prstGeom>
          <a:solidFill>
            <a:srgbClr val="FFFFFF"/>
          </a:solidFill>
          <a:ln w="10160">
            <a:solidFill>
              <a:srgbClr val="D7E0E0"/>
            </a:solidFill>
            <a:prstDash val="solid"/>
          </a:ln>
        </p:spPr>
      </p:sp>
      <p:sp>
        <p:nvSpPr>
          <p:cNvPr id="22" name="Shape 20"/>
          <p:cNvSpPr/>
          <p:nvPr/>
        </p:nvSpPr>
        <p:spPr>
          <a:xfrm>
            <a:off x="4251960" y="3818467"/>
            <a:ext cx="82296" cy="1417320"/>
          </a:xfrm>
          <a:prstGeom prst="rect">
            <a:avLst/>
          </a:prstGeom>
          <a:solidFill>
            <a:srgbClr val="F26A1B"/>
          </a:solidFill>
          <a:ln w="12700">
            <a:solidFill>
              <a:srgbClr val="F26A1B">
                <a:alpha val="0"/>
              </a:srgbClr>
            </a:solidFill>
            <a:prstDash val="solid"/>
          </a:ln>
        </p:spPr>
      </p:sp>
      <p:sp>
        <p:nvSpPr>
          <p:cNvPr id="23" name="Text 21"/>
          <p:cNvSpPr/>
          <p:nvPr/>
        </p:nvSpPr>
        <p:spPr>
          <a:xfrm>
            <a:off x="4471416" y="398305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05  Validation plan</a:t>
            </a:r>
            <a:endParaRPr lang="en-US" sz="1400" dirty="0"/>
          </a:p>
        </p:txBody>
      </p:sp>
      <p:sp>
        <p:nvSpPr>
          <p:cNvPr id="24" name="Text 22"/>
          <p:cNvSpPr/>
          <p:nvPr/>
        </p:nvSpPr>
        <p:spPr>
          <a:xfrm>
            <a:off x="4471416" y="434881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Tests, success criteria and evidence needed.</a:t>
            </a:r>
            <a:endParaRPr lang="en-US" sz="1400" dirty="0"/>
          </a:p>
        </p:txBody>
      </p:sp>
      <p:sp>
        <p:nvSpPr>
          <p:cNvPr id="25" name="Shape 23"/>
          <p:cNvSpPr/>
          <p:nvPr/>
        </p:nvSpPr>
        <p:spPr>
          <a:xfrm>
            <a:off x="8001000" y="3818467"/>
            <a:ext cx="3429000" cy="1417320"/>
          </a:xfrm>
          <a:prstGeom prst="roundRect">
            <a:avLst>
              <a:gd name="adj" fmla="val 4516"/>
            </a:avLst>
          </a:prstGeom>
          <a:solidFill>
            <a:srgbClr val="FFFFFF"/>
          </a:solidFill>
          <a:ln w="10160">
            <a:solidFill>
              <a:srgbClr val="D7E0E0"/>
            </a:solidFill>
            <a:prstDash val="solid"/>
          </a:ln>
        </p:spPr>
      </p:sp>
      <p:sp>
        <p:nvSpPr>
          <p:cNvPr id="26" name="Shape 24"/>
          <p:cNvSpPr/>
          <p:nvPr/>
        </p:nvSpPr>
        <p:spPr>
          <a:xfrm>
            <a:off x="8001000" y="3818467"/>
            <a:ext cx="82296" cy="1417320"/>
          </a:xfrm>
          <a:prstGeom prst="rect">
            <a:avLst/>
          </a:prstGeom>
          <a:solidFill>
            <a:srgbClr val="006D6F"/>
          </a:solidFill>
          <a:ln w="12700">
            <a:solidFill>
              <a:srgbClr val="006D6F">
                <a:alpha val="0"/>
              </a:srgbClr>
            </a:solidFill>
            <a:prstDash val="solid"/>
          </a:ln>
        </p:spPr>
      </p:sp>
      <p:sp>
        <p:nvSpPr>
          <p:cNvPr id="27" name="Text 25"/>
          <p:cNvSpPr/>
          <p:nvPr/>
        </p:nvSpPr>
        <p:spPr>
          <a:xfrm>
            <a:off x="8220456" y="3983059"/>
            <a:ext cx="3081528" cy="237744"/>
          </a:xfrm>
          <a:prstGeom prst="rect">
            <a:avLst/>
          </a:prstGeom>
          <a:noFill/>
          <a:ln/>
        </p:spPr>
        <p:txBody>
          <a:bodyPr wrap="square" lIns="0" tIns="0" rIns="0" bIns="0" rtlCol="0" anchor="ctr"/>
          <a:lstStyle/>
          <a:p>
            <a:pPr marL="0" indent="0">
              <a:buNone/>
            </a:pPr>
            <a:r>
              <a:rPr lang="en-US" sz="1400" b="1" dirty="0">
                <a:solidFill>
                  <a:srgbClr val="233033"/>
                </a:solidFill>
              </a:rPr>
              <a:t>06  Next steps</a:t>
            </a:r>
            <a:endParaRPr lang="en-US" sz="1400" dirty="0"/>
          </a:p>
        </p:txBody>
      </p:sp>
      <p:sp>
        <p:nvSpPr>
          <p:cNvPr id="28" name="Text 26"/>
          <p:cNvSpPr/>
          <p:nvPr/>
        </p:nvSpPr>
        <p:spPr>
          <a:xfrm>
            <a:off x="8220456" y="4348819"/>
            <a:ext cx="3081528" cy="758952"/>
          </a:xfrm>
          <a:prstGeom prst="rect">
            <a:avLst/>
          </a:prstGeom>
          <a:noFill/>
          <a:ln/>
        </p:spPr>
        <p:txBody>
          <a:bodyPr wrap="square" lIns="254" tIns="254" rIns="254" bIns="254" rtlCol="0" anchor="ctr">
            <a:normAutofit/>
          </a:bodyPr>
          <a:lstStyle/>
          <a:p>
            <a:pPr marL="0" indent="0">
              <a:buNone/>
            </a:pPr>
            <a:r>
              <a:rPr lang="en-US" sz="1400" dirty="0">
                <a:solidFill>
                  <a:srgbClr val="6B7478"/>
                </a:solidFill>
              </a:rPr>
              <a:t>What must be measured, tested, redrawn or corrected before Session 6.</a:t>
            </a:r>
            <a:endParaRPr lang="en-US" sz="1400" dirty="0"/>
          </a:p>
        </p:txBody>
      </p:sp>
      <p:sp>
        <p:nvSpPr>
          <p:cNvPr id="29" name="Text 27"/>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SESSION 5</a:t>
            </a:r>
            <a:endParaRPr lang="en-US" sz="850" dirty="0"/>
          </a:p>
        </p:txBody>
      </p:sp>
      <p:sp>
        <p:nvSpPr>
          <p:cNvPr id="3" name="Text 1"/>
          <p:cNvSpPr/>
          <p:nvPr/>
        </p:nvSpPr>
        <p:spPr>
          <a:xfrm>
            <a:off x="502920"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Use sequence: show the product in action</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Text 3"/>
          <p:cNvSpPr/>
          <p:nvPr/>
        </p:nvSpPr>
        <p:spPr>
          <a:xfrm>
            <a:off x="594359" y="1280160"/>
            <a:ext cx="7516707" cy="365760"/>
          </a:xfrm>
          <a:prstGeom prst="rect">
            <a:avLst/>
          </a:prstGeom>
          <a:noFill/>
          <a:ln/>
        </p:spPr>
        <p:txBody>
          <a:bodyPr wrap="square" lIns="254" tIns="254" rIns="254" bIns="254" rtlCol="0" anchor="ctr">
            <a:normAutofit/>
          </a:bodyPr>
          <a:lstStyle/>
          <a:p>
            <a:pPr marL="0" indent="0">
              <a:buNone/>
            </a:pPr>
            <a:r>
              <a:rPr lang="en-US" sz="2000" b="1" dirty="0">
                <a:solidFill>
                  <a:srgbClr val="006D6F"/>
                </a:solidFill>
                <a:latin typeface="Aptos Display" pitchFamily="34" charset="0"/>
                <a:ea typeface="Aptos Display" pitchFamily="34" charset="-122"/>
                <a:cs typeface="Aptos Display" pitchFamily="34" charset="-120"/>
              </a:rPr>
              <a:t>A use sequence makes the product understandable.</a:t>
            </a:r>
            <a:endParaRPr lang="en-US" sz="2000" dirty="0"/>
          </a:p>
        </p:txBody>
      </p:sp>
      <p:sp>
        <p:nvSpPr>
          <p:cNvPr id="6" name="Text 4"/>
          <p:cNvSpPr/>
          <p:nvPr/>
        </p:nvSpPr>
        <p:spPr>
          <a:xfrm>
            <a:off x="594360" y="1783080"/>
            <a:ext cx="4937760" cy="640080"/>
          </a:xfrm>
          <a:prstGeom prst="rect">
            <a:avLst/>
          </a:prstGeom>
          <a:noFill/>
          <a:ln/>
        </p:spPr>
        <p:txBody>
          <a:bodyPr wrap="square" lIns="635" tIns="635" rIns="635" bIns="635" rtlCol="0" anchor="ctr">
            <a:normAutofit/>
          </a:bodyPr>
          <a:lstStyle/>
          <a:p>
            <a:pPr marL="0" indent="0">
              <a:buNone/>
            </a:pPr>
            <a:r>
              <a:rPr lang="en-US" sz="1600" dirty="0">
                <a:solidFill>
                  <a:srgbClr val="6B7478"/>
                </a:solidFill>
                <a:latin typeface="Aptos" pitchFamily="34" charset="0"/>
                <a:ea typeface="Aptos" pitchFamily="34" charset="-122"/>
                <a:cs typeface="Aptos" pitchFamily="34" charset="-120"/>
              </a:rPr>
              <a:t>Must show the main interaction as a clear sequence. It can be sketches, photos, renders or simple diagrams.</a:t>
            </a:r>
            <a:endParaRPr lang="en-US" sz="1600" dirty="0"/>
          </a:p>
        </p:txBody>
      </p:sp>
      <p:sp>
        <p:nvSpPr>
          <p:cNvPr id="7" name="Shape 5"/>
          <p:cNvSpPr/>
          <p:nvPr/>
        </p:nvSpPr>
        <p:spPr>
          <a:xfrm>
            <a:off x="1242229" y="3264408"/>
            <a:ext cx="384048" cy="384048"/>
          </a:xfrm>
          <a:prstGeom prst="ellipse">
            <a:avLst/>
          </a:prstGeom>
          <a:solidFill>
            <a:srgbClr val="F26A1B"/>
          </a:solidFill>
          <a:ln w="12700">
            <a:solidFill>
              <a:srgbClr val="F26A1B">
                <a:alpha val="0"/>
              </a:srgbClr>
            </a:solidFill>
            <a:prstDash val="solid"/>
          </a:ln>
        </p:spPr>
      </p:sp>
      <p:sp>
        <p:nvSpPr>
          <p:cNvPr id="8" name="Text 6"/>
          <p:cNvSpPr/>
          <p:nvPr/>
        </p:nvSpPr>
        <p:spPr>
          <a:xfrm>
            <a:off x="1370245" y="335127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1</a:t>
            </a:r>
            <a:endParaRPr lang="en-US" sz="1600" dirty="0"/>
          </a:p>
        </p:txBody>
      </p:sp>
      <p:sp>
        <p:nvSpPr>
          <p:cNvPr id="9" name="Text 7"/>
          <p:cNvSpPr/>
          <p:nvPr/>
        </p:nvSpPr>
        <p:spPr>
          <a:xfrm>
            <a:off x="1754293" y="326440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Prepare</a:t>
            </a:r>
            <a:endParaRPr lang="en-US" sz="1600" dirty="0"/>
          </a:p>
        </p:txBody>
      </p:sp>
      <p:sp>
        <p:nvSpPr>
          <p:cNvPr id="10" name="Text 8"/>
          <p:cNvSpPr/>
          <p:nvPr/>
        </p:nvSpPr>
        <p:spPr>
          <a:xfrm>
            <a:off x="1754293" y="3547872"/>
            <a:ext cx="2514600" cy="402336"/>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What does the user do before using it?</a:t>
            </a:r>
            <a:endParaRPr lang="en-US" sz="1600" dirty="0"/>
          </a:p>
        </p:txBody>
      </p:sp>
      <p:sp>
        <p:nvSpPr>
          <p:cNvPr id="11" name="Shape 9"/>
          <p:cNvSpPr/>
          <p:nvPr/>
        </p:nvSpPr>
        <p:spPr>
          <a:xfrm>
            <a:off x="4534069" y="3264408"/>
            <a:ext cx="384048" cy="384048"/>
          </a:xfrm>
          <a:prstGeom prst="ellipse">
            <a:avLst/>
          </a:prstGeom>
          <a:solidFill>
            <a:srgbClr val="F26A1B"/>
          </a:solidFill>
          <a:ln w="12700">
            <a:solidFill>
              <a:srgbClr val="F26A1B">
                <a:alpha val="0"/>
              </a:srgbClr>
            </a:solidFill>
            <a:prstDash val="solid"/>
          </a:ln>
        </p:spPr>
      </p:sp>
      <p:sp>
        <p:nvSpPr>
          <p:cNvPr id="12" name="Text 10"/>
          <p:cNvSpPr/>
          <p:nvPr/>
        </p:nvSpPr>
        <p:spPr>
          <a:xfrm>
            <a:off x="4662085" y="335127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2</a:t>
            </a:r>
            <a:endParaRPr lang="en-US" sz="1600" dirty="0"/>
          </a:p>
        </p:txBody>
      </p:sp>
      <p:sp>
        <p:nvSpPr>
          <p:cNvPr id="13" name="Text 11"/>
          <p:cNvSpPr/>
          <p:nvPr/>
        </p:nvSpPr>
        <p:spPr>
          <a:xfrm>
            <a:off x="5046133" y="326440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Adjust / attach</a:t>
            </a:r>
            <a:endParaRPr lang="en-US" sz="1600" dirty="0"/>
          </a:p>
        </p:txBody>
      </p:sp>
      <p:sp>
        <p:nvSpPr>
          <p:cNvPr id="14" name="Text 12"/>
          <p:cNvSpPr/>
          <p:nvPr/>
        </p:nvSpPr>
        <p:spPr>
          <a:xfrm>
            <a:off x="5046133" y="3547872"/>
            <a:ext cx="2514600" cy="402336"/>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How is it placed, connected or fitted?</a:t>
            </a:r>
            <a:endParaRPr lang="en-US" sz="1600" dirty="0"/>
          </a:p>
        </p:txBody>
      </p:sp>
      <p:sp>
        <p:nvSpPr>
          <p:cNvPr id="15" name="Shape 13"/>
          <p:cNvSpPr/>
          <p:nvPr/>
        </p:nvSpPr>
        <p:spPr>
          <a:xfrm>
            <a:off x="7825909" y="3264408"/>
            <a:ext cx="384048" cy="384048"/>
          </a:xfrm>
          <a:prstGeom prst="ellipse">
            <a:avLst/>
          </a:prstGeom>
          <a:solidFill>
            <a:srgbClr val="F26A1B"/>
          </a:solidFill>
          <a:ln w="12700">
            <a:solidFill>
              <a:srgbClr val="F26A1B">
                <a:alpha val="0"/>
              </a:srgbClr>
            </a:solidFill>
            <a:prstDash val="solid"/>
          </a:ln>
        </p:spPr>
      </p:sp>
      <p:sp>
        <p:nvSpPr>
          <p:cNvPr id="16" name="Text 14"/>
          <p:cNvSpPr/>
          <p:nvPr/>
        </p:nvSpPr>
        <p:spPr>
          <a:xfrm>
            <a:off x="7953925" y="335127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3</a:t>
            </a:r>
            <a:endParaRPr lang="en-US" sz="1600" dirty="0"/>
          </a:p>
        </p:txBody>
      </p:sp>
      <p:sp>
        <p:nvSpPr>
          <p:cNvPr id="17" name="Text 15"/>
          <p:cNvSpPr/>
          <p:nvPr/>
        </p:nvSpPr>
        <p:spPr>
          <a:xfrm>
            <a:off x="8337973" y="326440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Use</a:t>
            </a:r>
            <a:endParaRPr lang="en-US" sz="1600" dirty="0"/>
          </a:p>
        </p:txBody>
      </p:sp>
      <p:sp>
        <p:nvSpPr>
          <p:cNvPr id="18" name="Text 16"/>
          <p:cNvSpPr/>
          <p:nvPr/>
        </p:nvSpPr>
        <p:spPr>
          <a:xfrm>
            <a:off x="8337973" y="3547872"/>
            <a:ext cx="2514600" cy="402336"/>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What is the main action or benefit?</a:t>
            </a:r>
            <a:endParaRPr lang="en-US" sz="1600" dirty="0"/>
          </a:p>
        </p:txBody>
      </p:sp>
      <p:sp>
        <p:nvSpPr>
          <p:cNvPr id="19" name="Shape 17"/>
          <p:cNvSpPr/>
          <p:nvPr/>
        </p:nvSpPr>
        <p:spPr>
          <a:xfrm>
            <a:off x="1242229" y="4544568"/>
            <a:ext cx="384048" cy="384048"/>
          </a:xfrm>
          <a:prstGeom prst="ellipse">
            <a:avLst/>
          </a:prstGeom>
          <a:solidFill>
            <a:srgbClr val="F26A1B"/>
          </a:solidFill>
          <a:ln w="12700">
            <a:solidFill>
              <a:srgbClr val="F26A1B">
                <a:alpha val="0"/>
              </a:srgbClr>
            </a:solidFill>
            <a:prstDash val="solid"/>
          </a:ln>
        </p:spPr>
      </p:sp>
      <p:sp>
        <p:nvSpPr>
          <p:cNvPr id="20" name="Text 18"/>
          <p:cNvSpPr/>
          <p:nvPr/>
        </p:nvSpPr>
        <p:spPr>
          <a:xfrm>
            <a:off x="1370245" y="463143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4</a:t>
            </a:r>
            <a:endParaRPr lang="en-US" sz="1600" dirty="0"/>
          </a:p>
        </p:txBody>
      </p:sp>
      <p:sp>
        <p:nvSpPr>
          <p:cNvPr id="21" name="Text 19"/>
          <p:cNvSpPr/>
          <p:nvPr/>
        </p:nvSpPr>
        <p:spPr>
          <a:xfrm>
            <a:off x="1754293" y="454456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Access / transform</a:t>
            </a:r>
            <a:endParaRPr lang="en-US" sz="1600" dirty="0"/>
          </a:p>
        </p:txBody>
      </p:sp>
      <p:sp>
        <p:nvSpPr>
          <p:cNvPr id="22" name="Text 20"/>
          <p:cNvSpPr/>
          <p:nvPr/>
        </p:nvSpPr>
        <p:spPr>
          <a:xfrm>
            <a:off x="1754293" y="4828032"/>
            <a:ext cx="2514600" cy="402336"/>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How does the user open, remove, fold or activate it?</a:t>
            </a:r>
            <a:endParaRPr lang="en-US" sz="1600" dirty="0"/>
          </a:p>
        </p:txBody>
      </p:sp>
      <p:sp>
        <p:nvSpPr>
          <p:cNvPr id="23" name="Shape 21"/>
          <p:cNvSpPr/>
          <p:nvPr/>
        </p:nvSpPr>
        <p:spPr>
          <a:xfrm>
            <a:off x="4534069" y="4544568"/>
            <a:ext cx="384048" cy="384048"/>
          </a:xfrm>
          <a:prstGeom prst="ellipse">
            <a:avLst/>
          </a:prstGeom>
          <a:solidFill>
            <a:srgbClr val="F26A1B"/>
          </a:solidFill>
          <a:ln w="12700">
            <a:solidFill>
              <a:srgbClr val="F26A1B">
                <a:alpha val="0"/>
              </a:srgbClr>
            </a:solidFill>
            <a:prstDash val="solid"/>
          </a:ln>
        </p:spPr>
      </p:sp>
      <p:sp>
        <p:nvSpPr>
          <p:cNvPr id="24" name="Text 22"/>
          <p:cNvSpPr/>
          <p:nvPr/>
        </p:nvSpPr>
        <p:spPr>
          <a:xfrm>
            <a:off x="4662085" y="463143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5</a:t>
            </a:r>
            <a:endParaRPr lang="en-US" sz="1600" dirty="0"/>
          </a:p>
        </p:txBody>
      </p:sp>
      <p:sp>
        <p:nvSpPr>
          <p:cNvPr id="25" name="Text 23"/>
          <p:cNvSpPr/>
          <p:nvPr/>
        </p:nvSpPr>
        <p:spPr>
          <a:xfrm>
            <a:off x="5046133" y="454456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Store / carry</a:t>
            </a:r>
            <a:endParaRPr lang="en-US" sz="1600" dirty="0"/>
          </a:p>
        </p:txBody>
      </p:sp>
      <p:sp>
        <p:nvSpPr>
          <p:cNvPr id="26" name="Text 24"/>
          <p:cNvSpPr/>
          <p:nvPr/>
        </p:nvSpPr>
        <p:spPr>
          <a:xfrm>
            <a:off x="5046133" y="4828032"/>
            <a:ext cx="2514600" cy="402336"/>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What happens after use?</a:t>
            </a:r>
            <a:endParaRPr lang="en-US" sz="1600" dirty="0"/>
          </a:p>
        </p:txBody>
      </p:sp>
      <p:sp>
        <p:nvSpPr>
          <p:cNvPr id="27" name="Shape 25"/>
          <p:cNvSpPr/>
          <p:nvPr/>
        </p:nvSpPr>
        <p:spPr>
          <a:xfrm>
            <a:off x="7825909" y="4544568"/>
            <a:ext cx="384048" cy="384048"/>
          </a:xfrm>
          <a:prstGeom prst="ellipse">
            <a:avLst/>
          </a:prstGeom>
          <a:solidFill>
            <a:srgbClr val="F26A1B"/>
          </a:solidFill>
          <a:ln w="12700">
            <a:solidFill>
              <a:srgbClr val="F26A1B">
                <a:alpha val="0"/>
              </a:srgbClr>
            </a:solidFill>
            <a:prstDash val="solid"/>
          </a:ln>
        </p:spPr>
      </p:sp>
      <p:sp>
        <p:nvSpPr>
          <p:cNvPr id="28" name="Text 26"/>
          <p:cNvSpPr/>
          <p:nvPr/>
        </p:nvSpPr>
        <p:spPr>
          <a:xfrm>
            <a:off x="7953925" y="4631436"/>
            <a:ext cx="128016" cy="128016"/>
          </a:xfrm>
          <a:prstGeom prst="rect">
            <a:avLst/>
          </a:prstGeom>
          <a:noFill/>
          <a:ln/>
        </p:spPr>
        <p:txBody>
          <a:bodyPr wrap="square" lIns="0" tIns="0" rIns="0" bIns="0" rtlCol="0" anchor="ctr"/>
          <a:lstStyle/>
          <a:p>
            <a:pPr marL="0" indent="0">
              <a:buNone/>
            </a:pPr>
            <a:r>
              <a:rPr lang="en-US" sz="1600" b="1" dirty="0">
                <a:solidFill>
                  <a:srgbClr val="FFFFFF"/>
                </a:solidFill>
              </a:rPr>
              <a:t>6</a:t>
            </a:r>
            <a:endParaRPr lang="en-US" sz="1600" dirty="0"/>
          </a:p>
        </p:txBody>
      </p:sp>
      <p:sp>
        <p:nvSpPr>
          <p:cNvPr id="29" name="Text 27"/>
          <p:cNvSpPr/>
          <p:nvPr/>
        </p:nvSpPr>
        <p:spPr>
          <a:xfrm>
            <a:off x="8337973" y="4544568"/>
            <a:ext cx="2606040" cy="201168"/>
          </a:xfrm>
          <a:prstGeom prst="rect">
            <a:avLst/>
          </a:prstGeom>
          <a:noFill/>
          <a:ln/>
        </p:spPr>
        <p:txBody>
          <a:bodyPr wrap="square" lIns="0" tIns="0" rIns="0" bIns="0" rtlCol="0" anchor="ctr"/>
          <a:lstStyle/>
          <a:p>
            <a:pPr marL="0" indent="0">
              <a:buNone/>
            </a:pPr>
            <a:r>
              <a:rPr lang="en-US" sz="1600" b="1" dirty="0">
                <a:solidFill>
                  <a:srgbClr val="233033"/>
                </a:solidFill>
              </a:rPr>
              <a:t>Maintain</a:t>
            </a:r>
            <a:endParaRPr lang="en-US" sz="1600" dirty="0"/>
          </a:p>
        </p:txBody>
      </p:sp>
      <p:sp>
        <p:nvSpPr>
          <p:cNvPr id="30" name="Text 28"/>
          <p:cNvSpPr/>
          <p:nvPr/>
        </p:nvSpPr>
        <p:spPr>
          <a:xfrm>
            <a:off x="8337973" y="4828032"/>
            <a:ext cx="2514600" cy="402336"/>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How is it cleaned, charged, replaced or stored?</a:t>
            </a:r>
            <a:endParaRPr lang="en-US" sz="1600" dirty="0"/>
          </a:p>
        </p:txBody>
      </p:sp>
      <p:sp>
        <p:nvSpPr>
          <p:cNvPr id="31" name="Text 29"/>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SESSION 5</a:t>
            </a:r>
            <a:endParaRPr lang="en-US" sz="850" dirty="0"/>
          </a:p>
        </p:txBody>
      </p:sp>
      <p:sp>
        <p:nvSpPr>
          <p:cNvPr id="3" name="Text 1"/>
          <p:cNvSpPr/>
          <p:nvPr/>
        </p:nvSpPr>
        <p:spPr>
          <a:xfrm>
            <a:off x="502920"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Ergonomic analysis: what to observe</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Shape 3"/>
          <p:cNvSpPr/>
          <p:nvPr/>
        </p:nvSpPr>
        <p:spPr>
          <a:xfrm>
            <a:off x="562356" y="1591056"/>
            <a:ext cx="2606040" cy="1325880"/>
          </a:xfrm>
          <a:prstGeom prst="roundRect">
            <a:avLst>
              <a:gd name="adj" fmla="val 4828"/>
            </a:avLst>
          </a:prstGeom>
          <a:solidFill>
            <a:srgbClr val="FFFFFF"/>
          </a:solidFill>
          <a:ln w="10160">
            <a:solidFill>
              <a:srgbClr val="D7E0E0"/>
            </a:solidFill>
            <a:prstDash val="solid"/>
          </a:ln>
        </p:spPr>
      </p:sp>
      <p:sp>
        <p:nvSpPr>
          <p:cNvPr id="6" name="Shape 4"/>
          <p:cNvSpPr/>
          <p:nvPr/>
        </p:nvSpPr>
        <p:spPr>
          <a:xfrm>
            <a:off x="562356" y="1591056"/>
            <a:ext cx="82296" cy="1325880"/>
          </a:xfrm>
          <a:prstGeom prst="rect">
            <a:avLst/>
          </a:prstGeom>
          <a:solidFill>
            <a:srgbClr val="006D6F"/>
          </a:solidFill>
          <a:ln w="12700">
            <a:solidFill>
              <a:srgbClr val="006D6F">
                <a:alpha val="0"/>
              </a:srgbClr>
            </a:solidFill>
            <a:prstDash val="solid"/>
          </a:ln>
        </p:spPr>
      </p:sp>
      <p:sp>
        <p:nvSpPr>
          <p:cNvPr id="7" name="Text 5"/>
          <p:cNvSpPr/>
          <p:nvPr/>
        </p:nvSpPr>
        <p:spPr>
          <a:xfrm>
            <a:off x="781812" y="1755648"/>
            <a:ext cx="2258568" cy="237744"/>
          </a:xfrm>
          <a:prstGeom prst="rect">
            <a:avLst/>
          </a:prstGeom>
          <a:noFill/>
          <a:ln/>
        </p:spPr>
        <p:txBody>
          <a:bodyPr wrap="square" lIns="0" tIns="0" rIns="0" bIns="0" rtlCol="0" anchor="ctr"/>
          <a:lstStyle/>
          <a:p>
            <a:pPr marL="0" indent="0">
              <a:buNone/>
            </a:pPr>
            <a:r>
              <a:rPr lang="en-US" sz="1400" b="1" dirty="0">
                <a:solidFill>
                  <a:srgbClr val="233033"/>
                </a:solidFill>
              </a:rPr>
              <a:t>Body fit</a:t>
            </a:r>
            <a:endParaRPr lang="en-US" sz="1400" dirty="0"/>
          </a:p>
        </p:txBody>
      </p:sp>
      <p:sp>
        <p:nvSpPr>
          <p:cNvPr id="8" name="Text 6"/>
          <p:cNvSpPr/>
          <p:nvPr/>
        </p:nvSpPr>
        <p:spPr>
          <a:xfrm>
            <a:off x="781812" y="2121408"/>
            <a:ext cx="2258568" cy="667512"/>
          </a:xfrm>
          <a:prstGeom prst="rect">
            <a:avLst/>
          </a:prstGeom>
          <a:noFill/>
          <a:ln/>
        </p:spPr>
        <p:txBody>
          <a:bodyPr wrap="square" lIns="254" tIns="254" rIns="254" bIns="254" rtlCol="0" anchor="ctr">
            <a:noAutofit/>
          </a:bodyPr>
          <a:lstStyle/>
          <a:p>
            <a:pPr marL="0" indent="0">
              <a:buNone/>
            </a:pPr>
            <a:r>
              <a:rPr lang="en-US" sz="1400" dirty="0">
                <a:solidFill>
                  <a:srgbClr val="6B7478"/>
                </a:solidFill>
              </a:rPr>
              <a:t>Size, adjustment, body area, posture and movement range.</a:t>
            </a:r>
            <a:endParaRPr lang="en-US" sz="1400" dirty="0"/>
          </a:p>
        </p:txBody>
      </p:sp>
      <p:sp>
        <p:nvSpPr>
          <p:cNvPr id="9" name="Shape 7"/>
          <p:cNvSpPr/>
          <p:nvPr/>
        </p:nvSpPr>
        <p:spPr>
          <a:xfrm>
            <a:off x="3488436" y="1591056"/>
            <a:ext cx="2606040" cy="1325880"/>
          </a:xfrm>
          <a:prstGeom prst="roundRect">
            <a:avLst>
              <a:gd name="adj" fmla="val 4828"/>
            </a:avLst>
          </a:prstGeom>
          <a:solidFill>
            <a:srgbClr val="FFFFFF"/>
          </a:solidFill>
          <a:ln w="10160">
            <a:solidFill>
              <a:srgbClr val="D7E0E0"/>
            </a:solidFill>
            <a:prstDash val="solid"/>
          </a:ln>
        </p:spPr>
      </p:sp>
      <p:sp>
        <p:nvSpPr>
          <p:cNvPr id="10" name="Shape 8"/>
          <p:cNvSpPr/>
          <p:nvPr/>
        </p:nvSpPr>
        <p:spPr>
          <a:xfrm>
            <a:off x="3488436" y="1591056"/>
            <a:ext cx="82296" cy="1325880"/>
          </a:xfrm>
          <a:prstGeom prst="rect">
            <a:avLst/>
          </a:prstGeom>
          <a:solidFill>
            <a:srgbClr val="F26A1B"/>
          </a:solidFill>
          <a:ln w="12700">
            <a:solidFill>
              <a:srgbClr val="F26A1B">
                <a:alpha val="0"/>
              </a:srgbClr>
            </a:solidFill>
            <a:prstDash val="solid"/>
          </a:ln>
        </p:spPr>
      </p:sp>
      <p:sp>
        <p:nvSpPr>
          <p:cNvPr id="11" name="Text 9"/>
          <p:cNvSpPr/>
          <p:nvPr/>
        </p:nvSpPr>
        <p:spPr>
          <a:xfrm>
            <a:off x="3707892" y="1755648"/>
            <a:ext cx="2258568" cy="237744"/>
          </a:xfrm>
          <a:prstGeom prst="rect">
            <a:avLst/>
          </a:prstGeom>
          <a:noFill/>
          <a:ln/>
        </p:spPr>
        <p:txBody>
          <a:bodyPr wrap="square" lIns="0" tIns="0" rIns="0" bIns="0" rtlCol="0" anchor="ctr"/>
          <a:lstStyle/>
          <a:p>
            <a:pPr marL="0" indent="0">
              <a:buNone/>
            </a:pPr>
            <a:r>
              <a:rPr lang="en-US" sz="1400" b="1" dirty="0">
                <a:solidFill>
                  <a:srgbClr val="233033"/>
                </a:solidFill>
              </a:rPr>
              <a:t>Grip + access</a:t>
            </a:r>
            <a:endParaRPr lang="en-US" sz="1400" dirty="0"/>
          </a:p>
        </p:txBody>
      </p:sp>
      <p:sp>
        <p:nvSpPr>
          <p:cNvPr id="12" name="Text 10"/>
          <p:cNvSpPr/>
          <p:nvPr/>
        </p:nvSpPr>
        <p:spPr>
          <a:xfrm>
            <a:off x="3707892" y="2121408"/>
            <a:ext cx="2258568" cy="667512"/>
          </a:xfrm>
          <a:prstGeom prst="rect">
            <a:avLst/>
          </a:prstGeom>
          <a:noFill/>
          <a:ln/>
        </p:spPr>
        <p:txBody>
          <a:bodyPr wrap="square" lIns="254" tIns="254" rIns="254" bIns="254" rtlCol="0" anchor="ctr">
            <a:noAutofit/>
          </a:bodyPr>
          <a:lstStyle/>
          <a:p>
            <a:pPr marL="0" indent="0">
              <a:buNone/>
            </a:pPr>
            <a:r>
              <a:rPr lang="en-US" sz="1400" dirty="0">
                <a:solidFill>
                  <a:srgbClr val="6B7478"/>
                </a:solidFill>
              </a:rPr>
              <a:t>How the hand reaches, holds, pulls, opens or detaches the product.</a:t>
            </a:r>
            <a:endParaRPr lang="en-US" sz="1400" dirty="0"/>
          </a:p>
        </p:txBody>
      </p:sp>
      <p:sp>
        <p:nvSpPr>
          <p:cNvPr id="13" name="Shape 11"/>
          <p:cNvSpPr/>
          <p:nvPr/>
        </p:nvSpPr>
        <p:spPr>
          <a:xfrm>
            <a:off x="6414516" y="1591056"/>
            <a:ext cx="2606040" cy="1325880"/>
          </a:xfrm>
          <a:prstGeom prst="roundRect">
            <a:avLst>
              <a:gd name="adj" fmla="val 4828"/>
            </a:avLst>
          </a:prstGeom>
          <a:solidFill>
            <a:srgbClr val="FFFFFF"/>
          </a:solidFill>
          <a:ln w="10160">
            <a:solidFill>
              <a:srgbClr val="D7E0E0"/>
            </a:solidFill>
            <a:prstDash val="solid"/>
          </a:ln>
        </p:spPr>
      </p:sp>
      <p:sp>
        <p:nvSpPr>
          <p:cNvPr id="14" name="Shape 12"/>
          <p:cNvSpPr/>
          <p:nvPr/>
        </p:nvSpPr>
        <p:spPr>
          <a:xfrm>
            <a:off x="6414516" y="1591056"/>
            <a:ext cx="82296" cy="1325880"/>
          </a:xfrm>
          <a:prstGeom prst="rect">
            <a:avLst/>
          </a:prstGeom>
          <a:solidFill>
            <a:srgbClr val="006D6F"/>
          </a:solidFill>
          <a:ln w="12700">
            <a:solidFill>
              <a:srgbClr val="006D6F">
                <a:alpha val="0"/>
              </a:srgbClr>
            </a:solidFill>
            <a:prstDash val="solid"/>
          </a:ln>
        </p:spPr>
      </p:sp>
      <p:sp>
        <p:nvSpPr>
          <p:cNvPr id="15" name="Text 13"/>
          <p:cNvSpPr/>
          <p:nvPr/>
        </p:nvSpPr>
        <p:spPr>
          <a:xfrm>
            <a:off x="6633972" y="1755648"/>
            <a:ext cx="2258568" cy="237744"/>
          </a:xfrm>
          <a:prstGeom prst="rect">
            <a:avLst/>
          </a:prstGeom>
          <a:noFill/>
          <a:ln/>
        </p:spPr>
        <p:txBody>
          <a:bodyPr wrap="square" lIns="0" tIns="0" rIns="0" bIns="0" rtlCol="0" anchor="ctr"/>
          <a:lstStyle/>
          <a:p>
            <a:pPr marL="0" indent="0">
              <a:buNone/>
            </a:pPr>
            <a:r>
              <a:rPr lang="en-US" sz="1400" b="1" dirty="0">
                <a:solidFill>
                  <a:srgbClr val="233033"/>
                </a:solidFill>
              </a:rPr>
              <a:t>Load + weight</a:t>
            </a:r>
            <a:endParaRPr lang="en-US" sz="1400" dirty="0"/>
          </a:p>
        </p:txBody>
      </p:sp>
      <p:sp>
        <p:nvSpPr>
          <p:cNvPr id="16" name="Text 14"/>
          <p:cNvSpPr/>
          <p:nvPr/>
        </p:nvSpPr>
        <p:spPr>
          <a:xfrm>
            <a:off x="6633972" y="2121408"/>
            <a:ext cx="2258568" cy="667512"/>
          </a:xfrm>
          <a:prstGeom prst="rect">
            <a:avLst/>
          </a:prstGeom>
          <a:noFill/>
          <a:ln/>
        </p:spPr>
        <p:txBody>
          <a:bodyPr wrap="square" lIns="254" tIns="254" rIns="254" bIns="254" rtlCol="0" anchor="ctr">
            <a:noAutofit/>
          </a:bodyPr>
          <a:lstStyle/>
          <a:p>
            <a:pPr marL="0" indent="0">
              <a:buNone/>
            </a:pPr>
            <a:r>
              <a:rPr lang="en-US" sz="1400" dirty="0">
                <a:solidFill>
                  <a:srgbClr val="6B7478"/>
                </a:solidFill>
              </a:rPr>
              <a:t>Where the weight goes and whether it causes fatigue or imbalance.</a:t>
            </a:r>
            <a:endParaRPr lang="en-US" sz="1400" dirty="0"/>
          </a:p>
        </p:txBody>
      </p:sp>
      <p:sp>
        <p:nvSpPr>
          <p:cNvPr id="17" name="Shape 15"/>
          <p:cNvSpPr/>
          <p:nvPr/>
        </p:nvSpPr>
        <p:spPr>
          <a:xfrm>
            <a:off x="9340596" y="1591056"/>
            <a:ext cx="2240280" cy="1325880"/>
          </a:xfrm>
          <a:prstGeom prst="roundRect">
            <a:avLst>
              <a:gd name="adj" fmla="val 4828"/>
            </a:avLst>
          </a:prstGeom>
          <a:solidFill>
            <a:srgbClr val="FFFFFF"/>
          </a:solidFill>
          <a:ln w="10160">
            <a:solidFill>
              <a:srgbClr val="D7E0E0"/>
            </a:solidFill>
            <a:prstDash val="solid"/>
          </a:ln>
        </p:spPr>
      </p:sp>
      <p:sp>
        <p:nvSpPr>
          <p:cNvPr id="18" name="Shape 16"/>
          <p:cNvSpPr/>
          <p:nvPr/>
        </p:nvSpPr>
        <p:spPr>
          <a:xfrm>
            <a:off x="9340596" y="1591056"/>
            <a:ext cx="82296" cy="1325880"/>
          </a:xfrm>
          <a:prstGeom prst="rect">
            <a:avLst/>
          </a:prstGeom>
          <a:solidFill>
            <a:srgbClr val="F26A1B"/>
          </a:solidFill>
          <a:ln w="12700">
            <a:solidFill>
              <a:srgbClr val="F26A1B">
                <a:alpha val="0"/>
              </a:srgbClr>
            </a:solidFill>
            <a:prstDash val="solid"/>
          </a:ln>
        </p:spPr>
      </p:sp>
      <p:sp>
        <p:nvSpPr>
          <p:cNvPr id="19" name="Text 17"/>
          <p:cNvSpPr/>
          <p:nvPr/>
        </p:nvSpPr>
        <p:spPr>
          <a:xfrm>
            <a:off x="9560052" y="1755648"/>
            <a:ext cx="1892808" cy="237744"/>
          </a:xfrm>
          <a:prstGeom prst="rect">
            <a:avLst/>
          </a:prstGeom>
          <a:noFill/>
          <a:ln/>
        </p:spPr>
        <p:txBody>
          <a:bodyPr wrap="square" lIns="0" tIns="0" rIns="0" bIns="0" rtlCol="0" anchor="ctr"/>
          <a:lstStyle/>
          <a:p>
            <a:pPr marL="0" indent="0">
              <a:buNone/>
            </a:pPr>
            <a:r>
              <a:rPr lang="en-US" sz="1400" b="1" dirty="0">
                <a:solidFill>
                  <a:srgbClr val="233033"/>
                </a:solidFill>
              </a:rPr>
              <a:t>Pressure</a:t>
            </a:r>
            <a:endParaRPr lang="en-US" sz="1400" dirty="0"/>
          </a:p>
        </p:txBody>
      </p:sp>
      <p:sp>
        <p:nvSpPr>
          <p:cNvPr id="20" name="Text 18"/>
          <p:cNvSpPr/>
          <p:nvPr/>
        </p:nvSpPr>
        <p:spPr>
          <a:xfrm>
            <a:off x="9560052" y="2121408"/>
            <a:ext cx="1892808" cy="667512"/>
          </a:xfrm>
          <a:prstGeom prst="rect">
            <a:avLst/>
          </a:prstGeom>
          <a:noFill/>
          <a:ln/>
        </p:spPr>
        <p:txBody>
          <a:bodyPr wrap="square" lIns="254" tIns="254" rIns="254" bIns="254" rtlCol="0" anchor="ctr">
            <a:noAutofit/>
          </a:bodyPr>
          <a:lstStyle/>
          <a:p>
            <a:pPr marL="0" indent="0">
              <a:buNone/>
            </a:pPr>
            <a:r>
              <a:rPr lang="en-US" sz="1400" dirty="0">
                <a:solidFill>
                  <a:srgbClr val="6B7478"/>
                </a:solidFill>
              </a:rPr>
              <a:t>Contact zones, discomfort, rubbing, sharp edges or tight areas.</a:t>
            </a:r>
            <a:endParaRPr lang="en-US" sz="1400" dirty="0"/>
          </a:p>
        </p:txBody>
      </p:sp>
      <p:sp>
        <p:nvSpPr>
          <p:cNvPr id="21" name="Text 19"/>
          <p:cNvSpPr/>
          <p:nvPr/>
        </p:nvSpPr>
        <p:spPr>
          <a:xfrm>
            <a:off x="640080" y="3337560"/>
            <a:ext cx="3931920" cy="320040"/>
          </a:xfrm>
          <a:prstGeom prst="rect">
            <a:avLst/>
          </a:prstGeom>
          <a:noFill/>
          <a:ln/>
        </p:spPr>
        <p:txBody>
          <a:bodyPr wrap="square" lIns="254" tIns="254" rIns="254" bIns="254" rtlCol="0" anchor="ctr">
            <a:normAutofit/>
          </a:bodyPr>
          <a:lstStyle/>
          <a:p>
            <a:pPr marL="0" indent="0">
              <a:buNone/>
            </a:pPr>
            <a:r>
              <a:rPr lang="en-US" sz="1800" b="1" dirty="0">
                <a:solidFill>
                  <a:srgbClr val="233033"/>
                </a:solidFill>
                <a:latin typeface="Aptos Display" pitchFamily="34" charset="0"/>
                <a:ea typeface="Aptos Display" pitchFamily="34" charset="-122"/>
                <a:cs typeface="Aptos Display" pitchFamily="34" charset="-120"/>
              </a:rPr>
              <a:t>What to include in the report</a:t>
            </a:r>
            <a:endParaRPr lang="en-US" sz="1800" dirty="0"/>
          </a:p>
        </p:txBody>
      </p:sp>
      <p:sp>
        <p:nvSpPr>
          <p:cNvPr id="22" name="Shape 20"/>
          <p:cNvSpPr/>
          <p:nvPr/>
        </p:nvSpPr>
        <p:spPr>
          <a:xfrm>
            <a:off x="685800" y="3767328"/>
            <a:ext cx="10012680" cy="438912"/>
          </a:xfrm>
          <a:prstGeom prst="rect">
            <a:avLst/>
          </a:prstGeom>
          <a:solidFill>
            <a:srgbClr val="006D6F"/>
          </a:solidFill>
          <a:ln w="3810">
            <a:solidFill>
              <a:srgbClr val="006D6F"/>
            </a:solidFill>
            <a:prstDash val="solid"/>
          </a:ln>
        </p:spPr>
      </p:sp>
      <p:sp>
        <p:nvSpPr>
          <p:cNvPr id="23" name="Text 21"/>
          <p:cNvSpPr/>
          <p:nvPr/>
        </p:nvSpPr>
        <p:spPr>
          <a:xfrm>
            <a:off x="722376" y="3831336"/>
            <a:ext cx="1755648" cy="34747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Area</a:t>
            </a:r>
            <a:endParaRPr lang="en-US" sz="1400" dirty="0"/>
          </a:p>
        </p:txBody>
      </p:sp>
      <p:sp>
        <p:nvSpPr>
          <p:cNvPr id="24" name="Text 22"/>
          <p:cNvSpPr/>
          <p:nvPr/>
        </p:nvSpPr>
        <p:spPr>
          <a:xfrm>
            <a:off x="2551176" y="3831336"/>
            <a:ext cx="3035808" cy="34747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Question</a:t>
            </a:r>
            <a:endParaRPr lang="en-US" sz="1400" dirty="0"/>
          </a:p>
        </p:txBody>
      </p:sp>
      <p:sp>
        <p:nvSpPr>
          <p:cNvPr id="25" name="Text 23"/>
          <p:cNvSpPr/>
          <p:nvPr/>
        </p:nvSpPr>
        <p:spPr>
          <a:xfrm>
            <a:off x="5660136" y="3831336"/>
            <a:ext cx="1984248" cy="34747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Output</a:t>
            </a:r>
            <a:endParaRPr lang="en-US" sz="1400" dirty="0"/>
          </a:p>
        </p:txBody>
      </p:sp>
      <p:sp>
        <p:nvSpPr>
          <p:cNvPr id="26" name="Text 24"/>
          <p:cNvSpPr/>
          <p:nvPr/>
        </p:nvSpPr>
        <p:spPr>
          <a:xfrm>
            <a:off x="7717536" y="3831336"/>
            <a:ext cx="2944368" cy="347472"/>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Evidence</a:t>
            </a:r>
            <a:endParaRPr lang="en-US" sz="1400" dirty="0"/>
          </a:p>
        </p:txBody>
      </p:sp>
      <p:sp>
        <p:nvSpPr>
          <p:cNvPr id="27" name="Shape 25"/>
          <p:cNvSpPr/>
          <p:nvPr/>
        </p:nvSpPr>
        <p:spPr>
          <a:xfrm>
            <a:off x="685800" y="4206240"/>
            <a:ext cx="10012680" cy="438912"/>
          </a:xfrm>
          <a:prstGeom prst="rect">
            <a:avLst/>
          </a:prstGeom>
          <a:solidFill>
            <a:srgbClr val="FFFFFF"/>
          </a:solidFill>
          <a:ln w="3810">
            <a:solidFill>
              <a:srgbClr val="D7E0E0"/>
            </a:solidFill>
            <a:prstDash val="solid"/>
          </a:ln>
        </p:spPr>
      </p:sp>
      <p:sp>
        <p:nvSpPr>
          <p:cNvPr id="28" name="Text 26"/>
          <p:cNvSpPr/>
          <p:nvPr/>
        </p:nvSpPr>
        <p:spPr>
          <a:xfrm>
            <a:off x="722376" y="4256532"/>
            <a:ext cx="17556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Posture</a:t>
            </a:r>
            <a:endParaRPr lang="en-US" sz="1400" dirty="0"/>
          </a:p>
        </p:txBody>
      </p:sp>
      <p:sp>
        <p:nvSpPr>
          <p:cNvPr id="29" name="Text 27"/>
          <p:cNvSpPr/>
          <p:nvPr/>
        </p:nvSpPr>
        <p:spPr>
          <a:xfrm>
            <a:off x="2551176" y="4256532"/>
            <a:ext cx="303580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Does it force awkward movement?</a:t>
            </a:r>
            <a:endParaRPr lang="en-US" sz="1400" dirty="0"/>
          </a:p>
        </p:txBody>
      </p:sp>
      <p:sp>
        <p:nvSpPr>
          <p:cNvPr id="30" name="Text 28"/>
          <p:cNvSpPr/>
          <p:nvPr/>
        </p:nvSpPr>
        <p:spPr>
          <a:xfrm>
            <a:off x="5660136" y="4256532"/>
            <a:ext cx="19842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Posture notes</a:t>
            </a:r>
            <a:endParaRPr lang="en-US" sz="1400" dirty="0"/>
          </a:p>
        </p:txBody>
      </p:sp>
      <p:sp>
        <p:nvSpPr>
          <p:cNvPr id="31" name="Text 29"/>
          <p:cNvSpPr/>
          <p:nvPr/>
        </p:nvSpPr>
        <p:spPr>
          <a:xfrm>
            <a:off x="7717536" y="4256532"/>
            <a:ext cx="294436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Photo / diagram</a:t>
            </a:r>
            <a:endParaRPr lang="en-US" sz="1400" dirty="0"/>
          </a:p>
        </p:txBody>
      </p:sp>
      <p:sp>
        <p:nvSpPr>
          <p:cNvPr id="32" name="Shape 30"/>
          <p:cNvSpPr/>
          <p:nvPr/>
        </p:nvSpPr>
        <p:spPr>
          <a:xfrm>
            <a:off x="685800" y="4645152"/>
            <a:ext cx="10012680" cy="438912"/>
          </a:xfrm>
          <a:prstGeom prst="rect">
            <a:avLst/>
          </a:prstGeom>
          <a:solidFill>
            <a:srgbClr val="F0F5F5"/>
          </a:solidFill>
          <a:ln w="3810">
            <a:solidFill>
              <a:srgbClr val="D7E0E0"/>
            </a:solidFill>
            <a:prstDash val="solid"/>
          </a:ln>
        </p:spPr>
      </p:sp>
      <p:sp>
        <p:nvSpPr>
          <p:cNvPr id="33" name="Text 31"/>
          <p:cNvSpPr/>
          <p:nvPr/>
        </p:nvSpPr>
        <p:spPr>
          <a:xfrm>
            <a:off x="722376" y="4695444"/>
            <a:ext cx="17556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Fit</a:t>
            </a:r>
            <a:endParaRPr lang="en-US" sz="1400" dirty="0"/>
          </a:p>
        </p:txBody>
      </p:sp>
      <p:sp>
        <p:nvSpPr>
          <p:cNvPr id="34" name="Text 32"/>
          <p:cNvSpPr/>
          <p:nvPr/>
        </p:nvSpPr>
        <p:spPr>
          <a:xfrm>
            <a:off x="2551176" y="4695444"/>
            <a:ext cx="303580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Can different users adjust it?</a:t>
            </a:r>
            <a:endParaRPr lang="en-US" sz="1400" dirty="0"/>
          </a:p>
        </p:txBody>
      </p:sp>
      <p:sp>
        <p:nvSpPr>
          <p:cNvPr id="35" name="Text 33"/>
          <p:cNvSpPr/>
          <p:nvPr/>
        </p:nvSpPr>
        <p:spPr>
          <a:xfrm>
            <a:off x="5660136" y="4695444"/>
            <a:ext cx="19842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Fit range</a:t>
            </a:r>
            <a:endParaRPr lang="en-US" sz="1400" dirty="0"/>
          </a:p>
        </p:txBody>
      </p:sp>
      <p:sp>
        <p:nvSpPr>
          <p:cNvPr id="36" name="Text 34"/>
          <p:cNvSpPr/>
          <p:nvPr/>
        </p:nvSpPr>
        <p:spPr>
          <a:xfrm>
            <a:off x="7717536" y="4695444"/>
            <a:ext cx="294436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Test notes</a:t>
            </a:r>
            <a:endParaRPr lang="en-US" sz="1400" dirty="0"/>
          </a:p>
        </p:txBody>
      </p:sp>
      <p:sp>
        <p:nvSpPr>
          <p:cNvPr id="37" name="Shape 35"/>
          <p:cNvSpPr/>
          <p:nvPr/>
        </p:nvSpPr>
        <p:spPr>
          <a:xfrm>
            <a:off x="685800" y="5084064"/>
            <a:ext cx="10012680" cy="438912"/>
          </a:xfrm>
          <a:prstGeom prst="rect">
            <a:avLst/>
          </a:prstGeom>
          <a:solidFill>
            <a:srgbClr val="FFFFFF"/>
          </a:solidFill>
          <a:ln w="3810">
            <a:solidFill>
              <a:srgbClr val="D7E0E0"/>
            </a:solidFill>
            <a:prstDash val="solid"/>
          </a:ln>
        </p:spPr>
      </p:sp>
      <p:sp>
        <p:nvSpPr>
          <p:cNvPr id="38" name="Text 36"/>
          <p:cNvSpPr/>
          <p:nvPr/>
        </p:nvSpPr>
        <p:spPr>
          <a:xfrm>
            <a:off x="722376" y="5134356"/>
            <a:ext cx="17556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Movement</a:t>
            </a:r>
            <a:endParaRPr lang="en-US" sz="1400" dirty="0"/>
          </a:p>
        </p:txBody>
      </p:sp>
      <p:sp>
        <p:nvSpPr>
          <p:cNvPr id="39" name="Text 37"/>
          <p:cNvSpPr/>
          <p:nvPr/>
        </p:nvSpPr>
        <p:spPr>
          <a:xfrm>
            <a:off x="2551176" y="5134356"/>
            <a:ext cx="303580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Does it interfere with activity?</a:t>
            </a:r>
            <a:endParaRPr lang="en-US" sz="1400" dirty="0"/>
          </a:p>
        </p:txBody>
      </p:sp>
      <p:sp>
        <p:nvSpPr>
          <p:cNvPr id="40" name="Text 38"/>
          <p:cNvSpPr/>
          <p:nvPr/>
        </p:nvSpPr>
        <p:spPr>
          <a:xfrm>
            <a:off x="5660136" y="5134356"/>
            <a:ext cx="19842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Movement check</a:t>
            </a:r>
            <a:endParaRPr lang="en-US" sz="1400" dirty="0"/>
          </a:p>
        </p:txBody>
      </p:sp>
      <p:sp>
        <p:nvSpPr>
          <p:cNvPr id="41" name="Text 39"/>
          <p:cNvSpPr/>
          <p:nvPr/>
        </p:nvSpPr>
        <p:spPr>
          <a:xfrm>
            <a:off x="7717536" y="5134356"/>
            <a:ext cx="294436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Video</a:t>
            </a:r>
            <a:endParaRPr lang="en-US" sz="1400" dirty="0"/>
          </a:p>
        </p:txBody>
      </p:sp>
      <p:sp>
        <p:nvSpPr>
          <p:cNvPr id="42" name="Shape 40"/>
          <p:cNvSpPr/>
          <p:nvPr/>
        </p:nvSpPr>
        <p:spPr>
          <a:xfrm>
            <a:off x="685800" y="5522976"/>
            <a:ext cx="10012680" cy="438912"/>
          </a:xfrm>
          <a:prstGeom prst="rect">
            <a:avLst/>
          </a:prstGeom>
          <a:solidFill>
            <a:srgbClr val="F0F5F5"/>
          </a:solidFill>
          <a:ln w="3810">
            <a:solidFill>
              <a:srgbClr val="D7E0E0"/>
            </a:solidFill>
            <a:prstDash val="solid"/>
          </a:ln>
        </p:spPr>
      </p:sp>
      <p:sp>
        <p:nvSpPr>
          <p:cNvPr id="43" name="Text 41"/>
          <p:cNvSpPr/>
          <p:nvPr/>
        </p:nvSpPr>
        <p:spPr>
          <a:xfrm>
            <a:off x="722376" y="5573268"/>
            <a:ext cx="17556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Comfort</a:t>
            </a:r>
            <a:endParaRPr lang="en-US" sz="1400" dirty="0"/>
          </a:p>
        </p:txBody>
      </p:sp>
      <p:sp>
        <p:nvSpPr>
          <p:cNvPr id="44" name="Text 42"/>
          <p:cNvSpPr/>
          <p:nvPr/>
        </p:nvSpPr>
        <p:spPr>
          <a:xfrm>
            <a:off x="2551176" y="5573268"/>
            <a:ext cx="303580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Can it be used for a defined time?</a:t>
            </a:r>
            <a:endParaRPr lang="en-US" sz="1400" dirty="0"/>
          </a:p>
        </p:txBody>
      </p:sp>
      <p:sp>
        <p:nvSpPr>
          <p:cNvPr id="45" name="Text 43"/>
          <p:cNvSpPr/>
          <p:nvPr/>
        </p:nvSpPr>
        <p:spPr>
          <a:xfrm>
            <a:off x="5660136" y="5573268"/>
            <a:ext cx="198424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Rating / comments</a:t>
            </a:r>
            <a:endParaRPr lang="en-US" sz="1400" dirty="0"/>
          </a:p>
        </p:txBody>
      </p:sp>
      <p:sp>
        <p:nvSpPr>
          <p:cNvPr id="46" name="Text 44"/>
          <p:cNvSpPr/>
          <p:nvPr/>
        </p:nvSpPr>
        <p:spPr>
          <a:xfrm>
            <a:off x="7717536" y="5573268"/>
            <a:ext cx="2944368" cy="347472"/>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Survey</a:t>
            </a:r>
            <a:endParaRPr lang="en-US" sz="1400" dirty="0"/>
          </a:p>
        </p:txBody>
      </p:sp>
      <p:sp>
        <p:nvSpPr>
          <p:cNvPr id="47" name="Text 45"/>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SESSION 5</a:t>
            </a:r>
            <a:endParaRPr lang="en-US" sz="850" dirty="0"/>
          </a:p>
        </p:txBody>
      </p:sp>
      <p:sp>
        <p:nvSpPr>
          <p:cNvPr id="3" name="Text 1"/>
          <p:cNvSpPr/>
          <p:nvPr/>
        </p:nvSpPr>
        <p:spPr>
          <a:xfrm>
            <a:off x="590973"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Critical contact points and safety risks</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Text 3"/>
          <p:cNvSpPr/>
          <p:nvPr/>
        </p:nvSpPr>
        <p:spPr>
          <a:xfrm>
            <a:off x="594360" y="1234440"/>
            <a:ext cx="7076440" cy="384048"/>
          </a:xfrm>
          <a:prstGeom prst="rect">
            <a:avLst/>
          </a:prstGeom>
          <a:noFill/>
          <a:ln/>
        </p:spPr>
        <p:txBody>
          <a:bodyPr wrap="square" lIns="254" tIns="254" rIns="254" bIns="254" rtlCol="0" anchor="ctr">
            <a:normAutofit/>
          </a:bodyPr>
          <a:lstStyle/>
          <a:p>
            <a:pPr marL="0" indent="0">
              <a:buNone/>
            </a:pPr>
            <a:r>
              <a:rPr lang="en-US" sz="2000" b="1" dirty="0">
                <a:solidFill>
                  <a:srgbClr val="006D6F"/>
                </a:solidFill>
                <a:latin typeface="Aptos Display" pitchFamily="34" charset="0"/>
                <a:ea typeface="Aptos Display" pitchFamily="34" charset="-122"/>
                <a:cs typeface="Aptos Display" pitchFamily="34" charset="-120"/>
              </a:rPr>
              <a:t>Mark the zones where the product touches or could fail.</a:t>
            </a:r>
            <a:endParaRPr lang="en-US" sz="2000" dirty="0"/>
          </a:p>
        </p:txBody>
      </p:sp>
      <p:sp>
        <p:nvSpPr>
          <p:cNvPr id="6" name="Text 4"/>
          <p:cNvSpPr/>
          <p:nvPr/>
        </p:nvSpPr>
        <p:spPr>
          <a:xfrm>
            <a:off x="594360" y="1737360"/>
            <a:ext cx="5760720" cy="594360"/>
          </a:xfrm>
          <a:prstGeom prst="rect">
            <a:avLst/>
          </a:prstGeom>
          <a:noFill/>
          <a:ln/>
        </p:spPr>
        <p:txBody>
          <a:bodyPr wrap="square" lIns="635" tIns="635" rIns="635" bIns="635" rtlCol="0" anchor="ctr">
            <a:normAutofit/>
          </a:bodyPr>
          <a:lstStyle/>
          <a:p>
            <a:pPr marL="0" indent="0">
              <a:buNone/>
            </a:pPr>
            <a:r>
              <a:rPr lang="en-US" sz="1400" dirty="0">
                <a:solidFill>
                  <a:srgbClr val="6B7478"/>
                </a:solidFill>
                <a:latin typeface="Aptos" pitchFamily="34" charset="0"/>
                <a:ea typeface="Aptos" pitchFamily="34" charset="-122"/>
                <a:cs typeface="Aptos" pitchFamily="34" charset="-120"/>
              </a:rPr>
              <a:t>This section should become useful evidence for both the technical report and the visual explanation of comfort, safety and trust.</a:t>
            </a:r>
            <a:endParaRPr lang="en-US" sz="1400" dirty="0"/>
          </a:p>
        </p:txBody>
      </p:sp>
      <p:sp>
        <p:nvSpPr>
          <p:cNvPr id="7" name="Shape 5"/>
          <p:cNvSpPr/>
          <p:nvPr/>
        </p:nvSpPr>
        <p:spPr>
          <a:xfrm>
            <a:off x="631613" y="2720340"/>
            <a:ext cx="10241280" cy="475488"/>
          </a:xfrm>
          <a:prstGeom prst="rect">
            <a:avLst/>
          </a:prstGeom>
          <a:solidFill>
            <a:srgbClr val="006D6F"/>
          </a:solidFill>
          <a:ln w="3810">
            <a:solidFill>
              <a:srgbClr val="006D6F"/>
            </a:solidFill>
            <a:prstDash val="solid"/>
          </a:ln>
        </p:spPr>
      </p:sp>
      <p:sp>
        <p:nvSpPr>
          <p:cNvPr id="8" name="Text 6"/>
          <p:cNvSpPr/>
          <p:nvPr/>
        </p:nvSpPr>
        <p:spPr>
          <a:xfrm>
            <a:off x="668189" y="2784348"/>
            <a:ext cx="1847088" cy="384048"/>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Contact point</a:t>
            </a:r>
            <a:endParaRPr lang="en-US" sz="1400" dirty="0"/>
          </a:p>
        </p:txBody>
      </p:sp>
      <p:sp>
        <p:nvSpPr>
          <p:cNvPr id="9" name="Text 7"/>
          <p:cNvSpPr/>
          <p:nvPr/>
        </p:nvSpPr>
        <p:spPr>
          <a:xfrm>
            <a:off x="2588429" y="2784348"/>
            <a:ext cx="1938528" cy="384048"/>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Possible risk</a:t>
            </a:r>
            <a:endParaRPr lang="en-US" sz="1400" dirty="0"/>
          </a:p>
        </p:txBody>
      </p:sp>
      <p:sp>
        <p:nvSpPr>
          <p:cNvPr id="10" name="Text 8"/>
          <p:cNvSpPr/>
          <p:nvPr/>
        </p:nvSpPr>
        <p:spPr>
          <a:xfrm>
            <a:off x="4600109" y="2784348"/>
            <a:ext cx="2670048" cy="384048"/>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What to check</a:t>
            </a:r>
            <a:endParaRPr lang="en-US" sz="1400" dirty="0"/>
          </a:p>
        </p:txBody>
      </p:sp>
      <p:sp>
        <p:nvSpPr>
          <p:cNvPr id="11" name="Text 9"/>
          <p:cNvSpPr/>
          <p:nvPr/>
        </p:nvSpPr>
        <p:spPr>
          <a:xfrm>
            <a:off x="7343309" y="2784348"/>
            <a:ext cx="3493008" cy="384048"/>
          </a:xfrm>
          <a:prstGeom prst="rect">
            <a:avLst/>
          </a:prstGeom>
          <a:noFill/>
          <a:ln/>
        </p:spPr>
        <p:txBody>
          <a:bodyPr wrap="square" lIns="254" tIns="254" rIns="254" bIns="254" rtlCol="0" anchor="ctr">
            <a:normAutofit/>
          </a:bodyPr>
          <a:lstStyle/>
          <a:p>
            <a:pPr marL="0" indent="0">
              <a:buNone/>
            </a:pPr>
            <a:r>
              <a:rPr lang="en-US" sz="1400" b="1" dirty="0">
                <a:solidFill>
                  <a:srgbClr val="FFFFFF"/>
                </a:solidFill>
              </a:rPr>
              <a:t>Evidence</a:t>
            </a:r>
            <a:endParaRPr lang="en-US" sz="1400" dirty="0"/>
          </a:p>
        </p:txBody>
      </p:sp>
      <p:sp>
        <p:nvSpPr>
          <p:cNvPr id="12" name="Shape 10"/>
          <p:cNvSpPr/>
          <p:nvPr/>
        </p:nvSpPr>
        <p:spPr>
          <a:xfrm>
            <a:off x="631613" y="3195828"/>
            <a:ext cx="10241280" cy="475488"/>
          </a:xfrm>
          <a:prstGeom prst="rect">
            <a:avLst/>
          </a:prstGeom>
          <a:solidFill>
            <a:srgbClr val="FFFFFF"/>
          </a:solidFill>
          <a:ln w="3810">
            <a:solidFill>
              <a:srgbClr val="D7E0E0"/>
            </a:solidFill>
            <a:prstDash val="solid"/>
          </a:ln>
        </p:spPr>
      </p:sp>
      <p:sp>
        <p:nvSpPr>
          <p:cNvPr id="13" name="Text 11"/>
          <p:cNvSpPr/>
          <p:nvPr/>
        </p:nvSpPr>
        <p:spPr>
          <a:xfrm>
            <a:off x="668189" y="3246120"/>
            <a:ext cx="184708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Body</a:t>
            </a:r>
            <a:endParaRPr lang="en-US" sz="1400" dirty="0"/>
          </a:p>
        </p:txBody>
      </p:sp>
      <p:sp>
        <p:nvSpPr>
          <p:cNvPr id="14" name="Text 12"/>
          <p:cNvSpPr/>
          <p:nvPr/>
        </p:nvSpPr>
        <p:spPr>
          <a:xfrm>
            <a:off x="2588429" y="3246120"/>
            <a:ext cx="193852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Pressure / discomfort</a:t>
            </a:r>
            <a:endParaRPr lang="en-US" sz="1400" dirty="0"/>
          </a:p>
        </p:txBody>
      </p:sp>
      <p:sp>
        <p:nvSpPr>
          <p:cNvPr id="15" name="Text 13"/>
          <p:cNvSpPr/>
          <p:nvPr/>
        </p:nvSpPr>
        <p:spPr>
          <a:xfrm>
            <a:off x="4600109" y="3246120"/>
            <a:ext cx="267004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Fit, rubbing, posture</a:t>
            </a:r>
            <a:endParaRPr lang="en-US" sz="1400" dirty="0"/>
          </a:p>
        </p:txBody>
      </p:sp>
      <p:sp>
        <p:nvSpPr>
          <p:cNvPr id="16" name="Text 14"/>
          <p:cNvSpPr/>
          <p:nvPr/>
        </p:nvSpPr>
        <p:spPr>
          <a:xfrm>
            <a:off x="7343309" y="3246120"/>
            <a:ext cx="349300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Annotated photos</a:t>
            </a:r>
            <a:endParaRPr lang="en-US" sz="1400" dirty="0"/>
          </a:p>
        </p:txBody>
      </p:sp>
      <p:sp>
        <p:nvSpPr>
          <p:cNvPr id="17" name="Shape 15"/>
          <p:cNvSpPr/>
          <p:nvPr/>
        </p:nvSpPr>
        <p:spPr>
          <a:xfrm>
            <a:off x="631613" y="3671316"/>
            <a:ext cx="10241280" cy="475488"/>
          </a:xfrm>
          <a:prstGeom prst="rect">
            <a:avLst/>
          </a:prstGeom>
          <a:solidFill>
            <a:srgbClr val="F0F5F5"/>
          </a:solidFill>
          <a:ln w="3810">
            <a:solidFill>
              <a:srgbClr val="D7E0E0"/>
            </a:solidFill>
            <a:prstDash val="solid"/>
          </a:ln>
        </p:spPr>
      </p:sp>
      <p:sp>
        <p:nvSpPr>
          <p:cNvPr id="18" name="Text 16"/>
          <p:cNvSpPr/>
          <p:nvPr/>
        </p:nvSpPr>
        <p:spPr>
          <a:xfrm>
            <a:off x="668189" y="3721608"/>
            <a:ext cx="184708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Object / gear</a:t>
            </a:r>
            <a:endParaRPr lang="en-US" sz="1400" dirty="0"/>
          </a:p>
        </p:txBody>
      </p:sp>
      <p:sp>
        <p:nvSpPr>
          <p:cNvPr id="19" name="Text 17"/>
          <p:cNvSpPr/>
          <p:nvPr/>
        </p:nvSpPr>
        <p:spPr>
          <a:xfrm>
            <a:off x="2588429" y="3721608"/>
            <a:ext cx="193852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Detachment / slipping</a:t>
            </a:r>
            <a:endParaRPr lang="en-US" sz="1400" dirty="0"/>
          </a:p>
        </p:txBody>
      </p:sp>
      <p:sp>
        <p:nvSpPr>
          <p:cNvPr id="20" name="Text 18"/>
          <p:cNvSpPr/>
          <p:nvPr/>
        </p:nvSpPr>
        <p:spPr>
          <a:xfrm>
            <a:off x="4600109" y="3721608"/>
            <a:ext cx="267004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Grip, load, retention</a:t>
            </a:r>
            <a:endParaRPr lang="en-US" sz="1400" dirty="0"/>
          </a:p>
        </p:txBody>
      </p:sp>
      <p:sp>
        <p:nvSpPr>
          <p:cNvPr id="21" name="Text 19"/>
          <p:cNvSpPr/>
          <p:nvPr/>
        </p:nvSpPr>
        <p:spPr>
          <a:xfrm>
            <a:off x="7343309" y="3721608"/>
            <a:ext cx="349300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Video test</a:t>
            </a:r>
            <a:endParaRPr lang="en-US" sz="1400" dirty="0"/>
          </a:p>
        </p:txBody>
      </p:sp>
      <p:sp>
        <p:nvSpPr>
          <p:cNvPr id="22" name="Shape 20"/>
          <p:cNvSpPr/>
          <p:nvPr/>
        </p:nvSpPr>
        <p:spPr>
          <a:xfrm>
            <a:off x="631613" y="4146804"/>
            <a:ext cx="10241280" cy="475488"/>
          </a:xfrm>
          <a:prstGeom prst="rect">
            <a:avLst/>
          </a:prstGeom>
          <a:solidFill>
            <a:srgbClr val="FFFFFF"/>
          </a:solidFill>
          <a:ln w="3810">
            <a:solidFill>
              <a:srgbClr val="D7E0E0"/>
            </a:solidFill>
            <a:prstDash val="solid"/>
          </a:ln>
        </p:spPr>
      </p:sp>
      <p:sp>
        <p:nvSpPr>
          <p:cNvPr id="23" name="Text 21"/>
          <p:cNvSpPr/>
          <p:nvPr/>
        </p:nvSpPr>
        <p:spPr>
          <a:xfrm>
            <a:off x="668189" y="4197096"/>
            <a:ext cx="184708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Vehicle / board</a:t>
            </a:r>
            <a:endParaRPr lang="en-US" sz="1400" dirty="0"/>
          </a:p>
        </p:txBody>
      </p:sp>
      <p:sp>
        <p:nvSpPr>
          <p:cNvPr id="24" name="Text 22"/>
          <p:cNvSpPr/>
          <p:nvPr/>
        </p:nvSpPr>
        <p:spPr>
          <a:xfrm>
            <a:off x="2588429" y="4197096"/>
            <a:ext cx="193852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Vibration / instability</a:t>
            </a:r>
            <a:endParaRPr lang="en-US" sz="1400" dirty="0"/>
          </a:p>
        </p:txBody>
      </p:sp>
      <p:sp>
        <p:nvSpPr>
          <p:cNvPr id="25" name="Text 23"/>
          <p:cNvSpPr/>
          <p:nvPr/>
        </p:nvSpPr>
        <p:spPr>
          <a:xfrm>
            <a:off x="4600109" y="4197096"/>
            <a:ext cx="267004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Movement, balance, contact</a:t>
            </a:r>
            <a:endParaRPr lang="en-US" sz="1400" dirty="0"/>
          </a:p>
        </p:txBody>
      </p:sp>
      <p:sp>
        <p:nvSpPr>
          <p:cNvPr id="26" name="Text 24"/>
          <p:cNvSpPr/>
          <p:nvPr/>
        </p:nvSpPr>
        <p:spPr>
          <a:xfrm>
            <a:off x="7343309" y="4197096"/>
            <a:ext cx="349300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Movement test</a:t>
            </a:r>
            <a:endParaRPr lang="en-US" sz="1400" dirty="0"/>
          </a:p>
        </p:txBody>
      </p:sp>
      <p:sp>
        <p:nvSpPr>
          <p:cNvPr id="27" name="Shape 25"/>
          <p:cNvSpPr/>
          <p:nvPr/>
        </p:nvSpPr>
        <p:spPr>
          <a:xfrm>
            <a:off x="631613" y="4622292"/>
            <a:ext cx="10241280" cy="475488"/>
          </a:xfrm>
          <a:prstGeom prst="rect">
            <a:avLst/>
          </a:prstGeom>
          <a:solidFill>
            <a:srgbClr val="F0F5F5"/>
          </a:solidFill>
          <a:ln w="3810">
            <a:solidFill>
              <a:srgbClr val="D7E0E0"/>
            </a:solidFill>
            <a:prstDash val="solid"/>
          </a:ln>
        </p:spPr>
      </p:sp>
      <p:sp>
        <p:nvSpPr>
          <p:cNvPr id="28" name="Text 26"/>
          <p:cNvSpPr/>
          <p:nvPr/>
        </p:nvSpPr>
        <p:spPr>
          <a:xfrm>
            <a:off x="668189" y="4672584"/>
            <a:ext cx="184708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Mechanism</a:t>
            </a:r>
            <a:endParaRPr lang="en-US" sz="1400" dirty="0"/>
          </a:p>
        </p:txBody>
      </p:sp>
      <p:sp>
        <p:nvSpPr>
          <p:cNvPr id="29" name="Text 27"/>
          <p:cNvSpPr/>
          <p:nvPr/>
        </p:nvSpPr>
        <p:spPr>
          <a:xfrm>
            <a:off x="2588429" y="4672584"/>
            <a:ext cx="193852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Pinch / breakage</a:t>
            </a:r>
            <a:endParaRPr lang="en-US" sz="1400" dirty="0"/>
          </a:p>
        </p:txBody>
      </p:sp>
      <p:sp>
        <p:nvSpPr>
          <p:cNvPr id="30" name="Text 28"/>
          <p:cNvSpPr/>
          <p:nvPr/>
        </p:nvSpPr>
        <p:spPr>
          <a:xfrm>
            <a:off x="4600109" y="4672584"/>
            <a:ext cx="267004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Edges, force, repeated use</a:t>
            </a:r>
            <a:endParaRPr lang="en-US" sz="1400" dirty="0"/>
          </a:p>
        </p:txBody>
      </p:sp>
      <p:sp>
        <p:nvSpPr>
          <p:cNvPr id="31" name="Text 29"/>
          <p:cNvSpPr/>
          <p:nvPr/>
        </p:nvSpPr>
        <p:spPr>
          <a:xfrm>
            <a:off x="7343309" y="4672584"/>
            <a:ext cx="349300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Risk checklist</a:t>
            </a:r>
            <a:endParaRPr lang="en-US" sz="1400" dirty="0"/>
          </a:p>
        </p:txBody>
      </p:sp>
      <p:sp>
        <p:nvSpPr>
          <p:cNvPr id="32" name="Shape 30"/>
          <p:cNvSpPr/>
          <p:nvPr/>
        </p:nvSpPr>
        <p:spPr>
          <a:xfrm>
            <a:off x="631613" y="5097780"/>
            <a:ext cx="10241280" cy="475488"/>
          </a:xfrm>
          <a:prstGeom prst="rect">
            <a:avLst/>
          </a:prstGeom>
          <a:solidFill>
            <a:srgbClr val="FFFFFF"/>
          </a:solidFill>
          <a:ln w="3810">
            <a:solidFill>
              <a:srgbClr val="D7E0E0"/>
            </a:solidFill>
            <a:prstDash val="solid"/>
          </a:ln>
        </p:spPr>
      </p:sp>
      <p:sp>
        <p:nvSpPr>
          <p:cNvPr id="33" name="Text 31"/>
          <p:cNvSpPr/>
          <p:nvPr/>
        </p:nvSpPr>
        <p:spPr>
          <a:xfrm>
            <a:off x="668189" y="5148072"/>
            <a:ext cx="184708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Liquid / weather</a:t>
            </a:r>
            <a:endParaRPr lang="en-US" sz="1400" dirty="0"/>
          </a:p>
        </p:txBody>
      </p:sp>
      <p:sp>
        <p:nvSpPr>
          <p:cNvPr id="34" name="Text 32"/>
          <p:cNvSpPr/>
          <p:nvPr/>
        </p:nvSpPr>
        <p:spPr>
          <a:xfrm>
            <a:off x="2588429" y="5148072"/>
            <a:ext cx="193852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Leak / damage</a:t>
            </a:r>
            <a:endParaRPr lang="en-US" sz="1400" dirty="0"/>
          </a:p>
        </p:txBody>
      </p:sp>
      <p:sp>
        <p:nvSpPr>
          <p:cNvPr id="35" name="Text 33"/>
          <p:cNvSpPr/>
          <p:nvPr/>
        </p:nvSpPr>
        <p:spPr>
          <a:xfrm>
            <a:off x="4600109" y="5148072"/>
            <a:ext cx="267004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Water, sweat, cleaning</a:t>
            </a:r>
            <a:endParaRPr lang="en-US" sz="1400" dirty="0"/>
          </a:p>
        </p:txBody>
      </p:sp>
      <p:sp>
        <p:nvSpPr>
          <p:cNvPr id="36" name="Text 34"/>
          <p:cNvSpPr/>
          <p:nvPr/>
        </p:nvSpPr>
        <p:spPr>
          <a:xfrm>
            <a:off x="7343309" y="5148072"/>
            <a:ext cx="3493008" cy="384048"/>
          </a:xfrm>
          <a:prstGeom prst="rect">
            <a:avLst/>
          </a:prstGeom>
          <a:noFill/>
          <a:ln/>
        </p:spPr>
        <p:txBody>
          <a:bodyPr wrap="square" lIns="254" tIns="254" rIns="254" bIns="254" rtlCol="0" anchor="ctr">
            <a:normAutofit/>
          </a:bodyPr>
          <a:lstStyle/>
          <a:p>
            <a:pPr marL="0" indent="0">
              <a:buNone/>
            </a:pPr>
            <a:r>
              <a:rPr lang="en-US" sz="1400" dirty="0">
                <a:solidFill>
                  <a:srgbClr val="233033"/>
                </a:solidFill>
              </a:rPr>
              <a:t>Basic test notes</a:t>
            </a:r>
            <a:endParaRPr lang="en-US" sz="1400" dirty="0"/>
          </a:p>
        </p:txBody>
      </p:sp>
      <p:sp>
        <p:nvSpPr>
          <p:cNvPr id="37" name="Text 35"/>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SESSION 5</a:t>
            </a:r>
            <a:endParaRPr lang="en-US" sz="850" dirty="0"/>
          </a:p>
        </p:txBody>
      </p:sp>
      <p:sp>
        <p:nvSpPr>
          <p:cNvPr id="3" name="Text 1"/>
          <p:cNvSpPr/>
          <p:nvPr/>
        </p:nvSpPr>
        <p:spPr>
          <a:xfrm>
            <a:off x="562187" y="662940"/>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Evidence needed: make it documentable</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Shape 3"/>
          <p:cNvSpPr/>
          <p:nvPr/>
        </p:nvSpPr>
        <p:spPr>
          <a:xfrm>
            <a:off x="716280" y="2089403"/>
            <a:ext cx="3246120" cy="1371600"/>
          </a:xfrm>
          <a:prstGeom prst="roundRect">
            <a:avLst>
              <a:gd name="adj" fmla="val 4667"/>
            </a:avLst>
          </a:prstGeom>
          <a:solidFill>
            <a:srgbClr val="FFFFFF"/>
          </a:solidFill>
          <a:ln w="10160">
            <a:solidFill>
              <a:srgbClr val="D7E0E0"/>
            </a:solidFill>
            <a:prstDash val="solid"/>
          </a:ln>
        </p:spPr>
      </p:sp>
      <p:sp>
        <p:nvSpPr>
          <p:cNvPr id="6" name="Shape 4"/>
          <p:cNvSpPr/>
          <p:nvPr/>
        </p:nvSpPr>
        <p:spPr>
          <a:xfrm>
            <a:off x="716280" y="2089403"/>
            <a:ext cx="82296" cy="1371600"/>
          </a:xfrm>
          <a:prstGeom prst="rect">
            <a:avLst/>
          </a:prstGeom>
          <a:solidFill>
            <a:srgbClr val="006D6F"/>
          </a:solidFill>
          <a:ln w="12700">
            <a:solidFill>
              <a:srgbClr val="006D6F">
                <a:alpha val="0"/>
              </a:srgbClr>
            </a:solidFill>
            <a:prstDash val="solid"/>
          </a:ln>
        </p:spPr>
      </p:sp>
      <p:sp>
        <p:nvSpPr>
          <p:cNvPr id="7" name="Text 5"/>
          <p:cNvSpPr/>
          <p:nvPr/>
        </p:nvSpPr>
        <p:spPr>
          <a:xfrm>
            <a:off x="935736" y="225399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Photos</a:t>
            </a:r>
            <a:endParaRPr lang="en-US" sz="1600" dirty="0"/>
          </a:p>
        </p:txBody>
      </p:sp>
      <p:sp>
        <p:nvSpPr>
          <p:cNvPr id="8" name="Text 6"/>
          <p:cNvSpPr/>
          <p:nvPr/>
        </p:nvSpPr>
        <p:spPr>
          <a:xfrm>
            <a:off x="935736" y="2619755"/>
            <a:ext cx="2898648" cy="713232"/>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Use, contact points, scale, body fit, prototype detail.</a:t>
            </a:r>
            <a:endParaRPr lang="en-US" sz="1600" dirty="0"/>
          </a:p>
        </p:txBody>
      </p:sp>
      <p:sp>
        <p:nvSpPr>
          <p:cNvPr id="9" name="Shape 7"/>
          <p:cNvSpPr/>
          <p:nvPr/>
        </p:nvSpPr>
        <p:spPr>
          <a:xfrm>
            <a:off x="4465320" y="2089403"/>
            <a:ext cx="3246120" cy="1371600"/>
          </a:xfrm>
          <a:prstGeom prst="roundRect">
            <a:avLst>
              <a:gd name="adj" fmla="val 4667"/>
            </a:avLst>
          </a:prstGeom>
          <a:solidFill>
            <a:srgbClr val="FFFFFF"/>
          </a:solidFill>
          <a:ln w="10160">
            <a:solidFill>
              <a:srgbClr val="D7E0E0"/>
            </a:solidFill>
            <a:prstDash val="solid"/>
          </a:ln>
        </p:spPr>
      </p:sp>
      <p:sp>
        <p:nvSpPr>
          <p:cNvPr id="10" name="Shape 8"/>
          <p:cNvSpPr/>
          <p:nvPr/>
        </p:nvSpPr>
        <p:spPr>
          <a:xfrm>
            <a:off x="4465320" y="2089403"/>
            <a:ext cx="82296" cy="1371600"/>
          </a:xfrm>
          <a:prstGeom prst="rect">
            <a:avLst/>
          </a:prstGeom>
          <a:solidFill>
            <a:srgbClr val="F26A1B"/>
          </a:solidFill>
          <a:ln w="12700">
            <a:solidFill>
              <a:srgbClr val="F26A1B">
                <a:alpha val="0"/>
              </a:srgbClr>
            </a:solidFill>
            <a:prstDash val="solid"/>
          </a:ln>
        </p:spPr>
      </p:sp>
      <p:sp>
        <p:nvSpPr>
          <p:cNvPr id="11" name="Text 9"/>
          <p:cNvSpPr/>
          <p:nvPr/>
        </p:nvSpPr>
        <p:spPr>
          <a:xfrm>
            <a:off x="4684776" y="225399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Videos</a:t>
            </a:r>
            <a:endParaRPr lang="en-US" sz="1600" dirty="0"/>
          </a:p>
        </p:txBody>
      </p:sp>
      <p:sp>
        <p:nvSpPr>
          <p:cNvPr id="12" name="Text 10"/>
          <p:cNvSpPr/>
          <p:nvPr/>
        </p:nvSpPr>
        <p:spPr>
          <a:xfrm>
            <a:off x="4684776" y="2619755"/>
            <a:ext cx="2898648" cy="713232"/>
          </a:xfrm>
          <a:prstGeom prst="rect">
            <a:avLst/>
          </a:prstGeom>
          <a:noFill/>
          <a:ln/>
        </p:spPr>
        <p:txBody>
          <a:bodyPr wrap="square" lIns="254" tIns="254" rIns="254" bIns="254" rtlCol="0" anchor="ctr">
            <a:noAutofit/>
          </a:bodyPr>
          <a:lstStyle/>
          <a:p>
            <a:pPr marL="0" indent="0">
              <a:buNone/>
            </a:pPr>
            <a:r>
              <a:rPr lang="en-US" sz="1600" dirty="0">
                <a:solidFill>
                  <a:srgbClr val="6B7478"/>
                </a:solidFill>
              </a:rPr>
              <a:t>Movement, access time, transformation, stability, load behavior.</a:t>
            </a:r>
            <a:endParaRPr lang="en-US" sz="1600" dirty="0"/>
          </a:p>
        </p:txBody>
      </p:sp>
      <p:sp>
        <p:nvSpPr>
          <p:cNvPr id="13" name="Shape 11"/>
          <p:cNvSpPr/>
          <p:nvPr/>
        </p:nvSpPr>
        <p:spPr>
          <a:xfrm>
            <a:off x="8214360" y="2089403"/>
            <a:ext cx="3246120" cy="1371600"/>
          </a:xfrm>
          <a:prstGeom prst="roundRect">
            <a:avLst>
              <a:gd name="adj" fmla="val 4667"/>
            </a:avLst>
          </a:prstGeom>
          <a:solidFill>
            <a:srgbClr val="FFFFFF"/>
          </a:solidFill>
          <a:ln w="10160">
            <a:solidFill>
              <a:srgbClr val="D7E0E0"/>
            </a:solidFill>
            <a:prstDash val="solid"/>
          </a:ln>
        </p:spPr>
      </p:sp>
      <p:sp>
        <p:nvSpPr>
          <p:cNvPr id="14" name="Shape 12"/>
          <p:cNvSpPr/>
          <p:nvPr/>
        </p:nvSpPr>
        <p:spPr>
          <a:xfrm>
            <a:off x="8214360" y="2089403"/>
            <a:ext cx="82296" cy="1371600"/>
          </a:xfrm>
          <a:prstGeom prst="rect">
            <a:avLst/>
          </a:prstGeom>
          <a:solidFill>
            <a:srgbClr val="006D6F"/>
          </a:solidFill>
          <a:ln w="12700">
            <a:solidFill>
              <a:srgbClr val="006D6F">
                <a:alpha val="0"/>
              </a:srgbClr>
            </a:solidFill>
            <a:prstDash val="solid"/>
          </a:ln>
        </p:spPr>
      </p:sp>
      <p:sp>
        <p:nvSpPr>
          <p:cNvPr id="15" name="Text 13"/>
          <p:cNvSpPr/>
          <p:nvPr/>
        </p:nvSpPr>
        <p:spPr>
          <a:xfrm>
            <a:off x="8433816" y="225399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Measurements</a:t>
            </a:r>
            <a:endParaRPr lang="en-US" sz="1600" dirty="0"/>
          </a:p>
        </p:txBody>
      </p:sp>
      <p:sp>
        <p:nvSpPr>
          <p:cNvPr id="16" name="Text 14"/>
          <p:cNvSpPr/>
          <p:nvPr/>
        </p:nvSpPr>
        <p:spPr>
          <a:xfrm>
            <a:off x="8433816" y="2619755"/>
            <a:ext cx="2898648" cy="713232"/>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Time, dimensions, weight, load, distance, temperature, force.</a:t>
            </a:r>
            <a:endParaRPr lang="en-US" sz="1600" dirty="0"/>
          </a:p>
        </p:txBody>
      </p:sp>
      <p:sp>
        <p:nvSpPr>
          <p:cNvPr id="17" name="Shape 15"/>
          <p:cNvSpPr/>
          <p:nvPr/>
        </p:nvSpPr>
        <p:spPr>
          <a:xfrm>
            <a:off x="716280" y="4009643"/>
            <a:ext cx="3246120" cy="1371600"/>
          </a:xfrm>
          <a:prstGeom prst="roundRect">
            <a:avLst>
              <a:gd name="adj" fmla="val 4667"/>
            </a:avLst>
          </a:prstGeom>
          <a:solidFill>
            <a:srgbClr val="FFFFFF"/>
          </a:solidFill>
          <a:ln w="10160">
            <a:solidFill>
              <a:srgbClr val="D7E0E0"/>
            </a:solidFill>
            <a:prstDash val="solid"/>
          </a:ln>
        </p:spPr>
      </p:sp>
      <p:sp>
        <p:nvSpPr>
          <p:cNvPr id="18" name="Shape 16"/>
          <p:cNvSpPr/>
          <p:nvPr/>
        </p:nvSpPr>
        <p:spPr>
          <a:xfrm>
            <a:off x="716280" y="4009643"/>
            <a:ext cx="82296" cy="1371600"/>
          </a:xfrm>
          <a:prstGeom prst="rect">
            <a:avLst/>
          </a:prstGeom>
          <a:solidFill>
            <a:srgbClr val="F26A1B"/>
          </a:solidFill>
          <a:ln w="12700">
            <a:solidFill>
              <a:srgbClr val="F26A1B">
                <a:alpha val="0"/>
              </a:srgbClr>
            </a:solidFill>
            <a:prstDash val="solid"/>
          </a:ln>
        </p:spPr>
      </p:sp>
      <p:sp>
        <p:nvSpPr>
          <p:cNvPr id="19" name="Text 17"/>
          <p:cNvSpPr/>
          <p:nvPr/>
        </p:nvSpPr>
        <p:spPr>
          <a:xfrm>
            <a:off x="935736" y="417423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Surveys</a:t>
            </a:r>
            <a:endParaRPr lang="en-US" sz="1600" dirty="0"/>
          </a:p>
        </p:txBody>
      </p:sp>
      <p:sp>
        <p:nvSpPr>
          <p:cNvPr id="20" name="Text 18"/>
          <p:cNvSpPr/>
          <p:nvPr/>
        </p:nvSpPr>
        <p:spPr>
          <a:xfrm>
            <a:off x="935736" y="4539995"/>
            <a:ext cx="2898648" cy="713232"/>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Comfort rating, difficulty, trust, understanding, purchase interest.</a:t>
            </a:r>
            <a:endParaRPr lang="en-US" sz="1600" dirty="0"/>
          </a:p>
        </p:txBody>
      </p:sp>
      <p:sp>
        <p:nvSpPr>
          <p:cNvPr id="21" name="Shape 19"/>
          <p:cNvSpPr/>
          <p:nvPr/>
        </p:nvSpPr>
        <p:spPr>
          <a:xfrm>
            <a:off x="4465320" y="4009643"/>
            <a:ext cx="3246120" cy="1371600"/>
          </a:xfrm>
          <a:prstGeom prst="roundRect">
            <a:avLst>
              <a:gd name="adj" fmla="val 4667"/>
            </a:avLst>
          </a:prstGeom>
          <a:solidFill>
            <a:srgbClr val="FFFFFF"/>
          </a:solidFill>
          <a:ln w="10160">
            <a:solidFill>
              <a:srgbClr val="D7E0E0"/>
            </a:solidFill>
            <a:prstDash val="solid"/>
          </a:ln>
        </p:spPr>
      </p:sp>
      <p:sp>
        <p:nvSpPr>
          <p:cNvPr id="22" name="Shape 20"/>
          <p:cNvSpPr/>
          <p:nvPr/>
        </p:nvSpPr>
        <p:spPr>
          <a:xfrm>
            <a:off x="4465320" y="4009643"/>
            <a:ext cx="82296" cy="1371600"/>
          </a:xfrm>
          <a:prstGeom prst="rect">
            <a:avLst/>
          </a:prstGeom>
          <a:solidFill>
            <a:srgbClr val="006D6F"/>
          </a:solidFill>
          <a:ln w="12700">
            <a:solidFill>
              <a:srgbClr val="006D6F">
                <a:alpha val="0"/>
              </a:srgbClr>
            </a:solidFill>
            <a:prstDash val="solid"/>
          </a:ln>
        </p:spPr>
      </p:sp>
      <p:sp>
        <p:nvSpPr>
          <p:cNvPr id="23" name="Text 21"/>
          <p:cNvSpPr/>
          <p:nvPr/>
        </p:nvSpPr>
        <p:spPr>
          <a:xfrm>
            <a:off x="4684776" y="417423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Diagrams</a:t>
            </a:r>
            <a:endParaRPr lang="en-US" sz="1600" dirty="0"/>
          </a:p>
        </p:txBody>
      </p:sp>
      <p:sp>
        <p:nvSpPr>
          <p:cNvPr id="24" name="Text 22"/>
          <p:cNvSpPr/>
          <p:nvPr/>
        </p:nvSpPr>
        <p:spPr>
          <a:xfrm>
            <a:off x="4684776" y="4539995"/>
            <a:ext cx="2898648" cy="713232"/>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Use sequence, risk map, ergonomic map, test setup.</a:t>
            </a:r>
            <a:endParaRPr lang="en-US" sz="1600" dirty="0"/>
          </a:p>
        </p:txBody>
      </p:sp>
      <p:sp>
        <p:nvSpPr>
          <p:cNvPr id="25" name="Shape 23"/>
          <p:cNvSpPr/>
          <p:nvPr/>
        </p:nvSpPr>
        <p:spPr>
          <a:xfrm>
            <a:off x="8214360" y="4009643"/>
            <a:ext cx="3246120" cy="1371600"/>
          </a:xfrm>
          <a:prstGeom prst="roundRect">
            <a:avLst>
              <a:gd name="adj" fmla="val 4667"/>
            </a:avLst>
          </a:prstGeom>
          <a:solidFill>
            <a:srgbClr val="FFFFFF"/>
          </a:solidFill>
          <a:ln w="10160">
            <a:solidFill>
              <a:srgbClr val="D7E0E0"/>
            </a:solidFill>
            <a:prstDash val="solid"/>
          </a:ln>
        </p:spPr>
      </p:sp>
      <p:sp>
        <p:nvSpPr>
          <p:cNvPr id="26" name="Shape 24"/>
          <p:cNvSpPr/>
          <p:nvPr/>
        </p:nvSpPr>
        <p:spPr>
          <a:xfrm>
            <a:off x="8214360" y="4009643"/>
            <a:ext cx="82296" cy="1371600"/>
          </a:xfrm>
          <a:prstGeom prst="rect">
            <a:avLst/>
          </a:prstGeom>
          <a:solidFill>
            <a:srgbClr val="F26A1B"/>
          </a:solidFill>
          <a:ln w="12700">
            <a:solidFill>
              <a:srgbClr val="F26A1B">
                <a:alpha val="0"/>
              </a:srgbClr>
            </a:solidFill>
            <a:prstDash val="solid"/>
          </a:ln>
        </p:spPr>
      </p:sp>
      <p:sp>
        <p:nvSpPr>
          <p:cNvPr id="27" name="Text 25"/>
          <p:cNvSpPr/>
          <p:nvPr/>
        </p:nvSpPr>
        <p:spPr>
          <a:xfrm>
            <a:off x="8433816" y="4174235"/>
            <a:ext cx="2898648" cy="237744"/>
          </a:xfrm>
          <a:prstGeom prst="rect">
            <a:avLst/>
          </a:prstGeom>
          <a:noFill/>
          <a:ln/>
        </p:spPr>
        <p:txBody>
          <a:bodyPr wrap="square" lIns="0" tIns="0" rIns="0" bIns="0" rtlCol="0" anchor="ctr"/>
          <a:lstStyle/>
          <a:p>
            <a:pPr marL="0" indent="0">
              <a:buNone/>
            </a:pPr>
            <a:r>
              <a:rPr lang="en-US" sz="1600" b="1" dirty="0">
                <a:solidFill>
                  <a:srgbClr val="233033"/>
                </a:solidFill>
              </a:rPr>
              <a:t>Tables</a:t>
            </a:r>
            <a:endParaRPr lang="en-US" sz="1600" dirty="0"/>
          </a:p>
        </p:txBody>
      </p:sp>
      <p:sp>
        <p:nvSpPr>
          <p:cNvPr id="28" name="Text 26"/>
          <p:cNvSpPr/>
          <p:nvPr/>
        </p:nvSpPr>
        <p:spPr>
          <a:xfrm>
            <a:off x="8433816" y="4539995"/>
            <a:ext cx="2898648" cy="713232"/>
          </a:xfrm>
          <a:prstGeom prst="rect">
            <a:avLst/>
          </a:prstGeom>
          <a:noFill/>
          <a:ln/>
        </p:spPr>
        <p:txBody>
          <a:bodyPr wrap="square" lIns="254" tIns="254" rIns="254" bIns="254" rtlCol="0" anchor="ctr">
            <a:normAutofit/>
          </a:bodyPr>
          <a:lstStyle/>
          <a:p>
            <a:pPr marL="0" indent="0">
              <a:buNone/>
            </a:pPr>
            <a:r>
              <a:rPr lang="en-US" sz="1600" dirty="0">
                <a:solidFill>
                  <a:srgbClr val="6B7478"/>
                </a:solidFill>
              </a:rPr>
              <a:t>Test criteria, results, missing data and improvement plan.</a:t>
            </a:r>
            <a:endParaRPr lang="en-US" sz="1600" dirty="0"/>
          </a:p>
        </p:txBody>
      </p:sp>
      <p:sp>
        <p:nvSpPr>
          <p:cNvPr id="29" name="Text 27"/>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7F8F8"/>
        </a:solidFill>
        <a:effectLst/>
      </p:bgPr>
    </p:bg>
    <p:spTree>
      <p:nvGrpSpPr>
        <p:cNvPr id="1" name=""/>
        <p:cNvGrpSpPr/>
        <p:nvPr/>
      </p:nvGrpSpPr>
      <p:grpSpPr>
        <a:xfrm>
          <a:off x="0" y="0"/>
          <a:ext cx="0" cy="0"/>
          <a:chOff x="0" y="0"/>
          <a:chExt cx="0" cy="0"/>
        </a:xfrm>
      </p:grpSpPr>
      <p:sp>
        <p:nvSpPr>
          <p:cNvPr id="2" name="Text 0"/>
          <p:cNvSpPr/>
          <p:nvPr/>
        </p:nvSpPr>
        <p:spPr>
          <a:xfrm>
            <a:off x="502920" y="301752"/>
            <a:ext cx="1965960" cy="237744"/>
          </a:xfrm>
          <a:prstGeom prst="rect">
            <a:avLst/>
          </a:prstGeom>
          <a:noFill/>
          <a:ln/>
        </p:spPr>
        <p:txBody>
          <a:bodyPr wrap="square" rtlCol="0" anchor="ctr"/>
          <a:lstStyle/>
          <a:p>
            <a:pPr marL="0" indent="0">
              <a:buNone/>
            </a:pPr>
            <a:r>
              <a:rPr lang="en-US" sz="850" b="1" dirty="0">
                <a:solidFill>
                  <a:srgbClr val="F26A1B"/>
                </a:solidFill>
                <a:latin typeface="Aptos" pitchFamily="34" charset="0"/>
                <a:ea typeface="Aptos" pitchFamily="34" charset="-122"/>
                <a:cs typeface="Aptos" pitchFamily="34" charset="-120"/>
              </a:rPr>
              <a:t>REPORT CHECKLIST</a:t>
            </a:r>
            <a:endParaRPr lang="en-US" sz="850" dirty="0"/>
          </a:p>
        </p:txBody>
      </p:sp>
      <p:sp>
        <p:nvSpPr>
          <p:cNvPr id="3" name="Text 1"/>
          <p:cNvSpPr/>
          <p:nvPr/>
        </p:nvSpPr>
        <p:spPr>
          <a:xfrm>
            <a:off x="502920" y="658368"/>
            <a:ext cx="6675120" cy="411480"/>
          </a:xfrm>
          <a:prstGeom prst="rect">
            <a:avLst/>
          </a:prstGeom>
          <a:noFill/>
          <a:ln/>
        </p:spPr>
        <p:txBody>
          <a:bodyPr wrap="square" lIns="0" tIns="0" rIns="0" bIns="0" rtlCol="0" anchor="ctr"/>
          <a:lstStyle/>
          <a:p>
            <a:pPr marL="0" indent="0">
              <a:buNone/>
            </a:pPr>
            <a:r>
              <a:rPr lang="en-US" sz="2400" b="1" dirty="0">
                <a:solidFill>
                  <a:srgbClr val="233033"/>
                </a:solidFill>
                <a:latin typeface="Aptos Display" pitchFamily="34" charset="0"/>
                <a:ea typeface="Aptos Display" pitchFamily="34" charset="-122"/>
                <a:cs typeface="Aptos Display" pitchFamily="34" charset="-120"/>
              </a:rPr>
              <a:t>What to submit for Session 5</a:t>
            </a:r>
            <a:endParaRPr lang="en-US" sz="2400" dirty="0"/>
          </a:p>
        </p:txBody>
      </p:sp>
      <p:sp>
        <p:nvSpPr>
          <p:cNvPr id="4" name="Shape 2"/>
          <p:cNvSpPr/>
          <p:nvPr/>
        </p:nvSpPr>
        <p:spPr>
          <a:xfrm>
            <a:off x="502920" y="1143000"/>
            <a:ext cx="11155680" cy="0"/>
          </a:xfrm>
          <a:prstGeom prst="line">
            <a:avLst/>
          </a:prstGeom>
          <a:noFill/>
          <a:ln w="8890">
            <a:solidFill>
              <a:srgbClr val="C9D5D5"/>
            </a:solidFill>
            <a:prstDash val="solid"/>
          </a:ln>
        </p:spPr>
      </p:sp>
      <p:sp>
        <p:nvSpPr>
          <p:cNvPr id="5" name="Shape 3"/>
          <p:cNvSpPr/>
          <p:nvPr/>
        </p:nvSpPr>
        <p:spPr>
          <a:xfrm>
            <a:off x="602827" y="1389887"/>
            <a:ext cx="10972800" cy="4251960"/>
          </a:xfrm>
          <a:prstGeom prst="roundRect">
            <a:avLst>
              <a:gd name="adj" fmla="val 1720"/>
            </a:avLst>
          </a:prstGeom>
          <a:solidFill>
            <a:srgbClr val="FFFFFF"/>
          </a:solidFill>
          <a:ln w="12700">
            <a:solidFill>
              <a:srgbClr val="D7E0E0"/>
            </a:solidFill>
            <a:prstDash val="solid"/>
          </a:ln>
        </p:spPr>
      </p:sp>
      <p:sp>
        <p:nvSpPr>
          <p:cNvPr id="6" name="Shape 4"/>
          <p:cNvSpPr/>
          <p:nvPr/>
        </p:nvSpPr>
        <p:spPr>
          <a:xfrm>
            <a:off x="877147" y="1655063"/>
            <a:ext cx="201168" cy="201168"/>
          </a:xfrm>
          <a:prstGeom prst="ellipse">
            <a:avLst/>
          </a:prstGeom>
          <a:solidFill>
            <a:srgbClr val="006D6F"/>
          </a:solidFill>
          <a:ln w="12700">
            <a:solidFill>
              <a:srgbClr val="006D6F"/>
            </a:solidFill>
            <a:prstDash val="solid"/>
          </a:ln>
        </p:spPr>
      </p:sp>
      <p:sp>
        <p:nvSpPr>
          <p:cNvPr id="7" name="Text 5"/>
          <p:cNvSpPr/>
          <p:nvPr/>
        </p:nvSpPr>
        <p:spPr>
          <a:xfrm>
            <a:off x="1178899" y="1636775"/>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Cover / header with project name, team and main image</a:t>
            </a:r>
            <a:endParaRPr lang="en-US" sz="1600" dirty="0"/>
          </a:p>
        </p:txBody>
      </p:sp>
      <p:sp>
        <p:nvSpPr>
          <p:cNvPr id="8" name="Shape 6"/>
          <p:cNvSpPr/>
          <p:nvPr/>
        </p:nvSpPr>
        <p:spPr>
          <a:xfrm>
            <a:off x="877147" y="2084831"/>
            <a:ext cx="201168" cy="201168"/>
          </a:xfrm>
          <a:prstGeom prst="ellipse">
            <a:avLst/>
          </a:prstGeom>
          <a:solidFill>
            <a:srgbClr val="F26A1B"/>
          </a:solidFill>
          <a:ln w="12700">
            <a:solidFill>
              <a:srgbClr val="F26A1B"/>
            </a:solidFill>
            <a:prstDash val="solid"/>
          </a:ln>
        </p:spPr>
      </p:sp>
      <p:sp>
        <p:nvSpPr>
          <p:cNvPr id="9" name="Text 7"/>
          <p:cNvSpPr/>
          <p:nvPr/>
        </p:nvSpPr>
        <p:spPr>
          <a:xfrm>
            <a:off x="1178899" y="2066543"/>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User-product interaction: what the user does with the product</a:t>
            </a:r>
            <a:endParaRPr lang="en-US" sz="1600" dirty="0"/>
          </a:p>
        </p:txBody>
      </p:sp>
      <p:sp>
        <p:nvSpPr>
          <p:cNvPr id="10" name="Shape 8"/>
          <p:cNvSpPr/>
          <p:nvPr/>
        </p:nvSpPr>
        <p:spPr>
          <a:xfrm>
            <a:off x="877147" y="2514599"/>
            <a:ext cx="201168" cy="201168"/>
          </a:xfrm>
          <a:prstGeom prst="ellipse">
            <a:avLst/>
          </a:prstGeom>
          <a:solidFill>
            <a:srgbClr val="006D6F"/>
          </a:solidFill>
          <a:ln w="12700">
            <a:solidFill>
              <a:srgbClr val="006D6F"/>
            </a:solidFill>
            <a:prstDash val="solid"/>
          </a:ln>
        </p:spPr>
      </p:sp>
      <p:sp>
        <p:nvSpPr>
          <p:cNvPr id="11" name="Text 9"/>
          <p:cNvSpPr/>
          <p:nvPr/>
        </p:nvSpPr>
        <p:spPr>
          <a:xfrm>
            <a:off x="1178899" y="2496311"/>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Use sequence: visual step-by-step process</a:t>
            </a:r>
            <a:endParaRPr lang="en-US" sz="1600" dirty="0"/>
          </a:p>
        </p:txBody>
      </p:sp>
      <p:sp>
        <p:nvSpPr>
          <p:cNvPr id="12" name="Shape 10"/>
          <p:cNvSpPr/>
          <p:nvPr/>
        </p:nvSpPr>
        <p:spPr>
          <a:xfrm>
            <a:off x="877147" y="2944367"/>
            <a:ext cx="201168" cy="201168"/>
          </a:xfrm>
          <a:prstGeom prst="ellipse">
            <a:avLst/>
          </a:prstGeom>
          <a:solidFill>
            <a:srgbClr val="F26A1B"/>
          </a:solidFill>
          <a:ln w="12700">
            <a:solidFill>
              <a:srgbClr val="F26A1B"/>
            </a:solidFill>
            <a:prstDash val="solid"/>
          </a:ln>
        </p:spPr>
      </p:sp>
      <p:sp>
        <p:nvSpPr>
          <p:cNvPr id="13" name="Text 11"/>
          <p:cNvSpPr/>
          <p:nvPr/>
        </p:nvSpPr>
        <p:spPr>
          <a:xfrm>
            <a:off x="1178899" y="2926079"/>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Ergonomic analysis: posture, grip, weight, pressure, fit or movement</a:t>
            </a:r>
            <a:endParaRPr lang="en-US" sz="1600" dirty="0"/>
          </a:p>
        </p:txBody>
      </p:sp>
      <p:sp>
        <p:nvSpPr>
          <p:cNvPr id="14" name="Shape 12"/>
          <p:cNvSpPr/>
          <p:nvPr/>
        </p:nvSpPr>
        <p:spPr>
          <a:xfrm>
            <a:off x="877147" y="3374135"/>
            <a:ext cx="201168" cy="201168"/>
          </a:xfrm>
          <a:prstGeom prst="ellipse">
            <a:avLst/>
          </a:prstGeom>
          <a:solidFill>
            <a:srgbClr val="006D6F"/>
          </a:solidFill>
          <a:ln w="12700">
            <a:solidFill>
              <a:srgbClr val="006D6F"/>
            </a:solidFill>
            <a:prstDash val="solid"/>
          </a:ln>
        </p:spPr>
      </p:sp>
      <p:sp>
        <p:nvSpPr>
          <p:cNvPr id="15" name="Text 13"/>
          <p:cNvSpPr/>
          <p:nvPr/>
        </p:nvSpPr>
        <p:spPr>
          <a:xfrm>
            <a:off x="1178899" y="3355847"/>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Critical contact points and safety risks</a:t>
            </a:r>
            <a:endParaRPr lang="en-US" sz="1600" dirty="0"/>
          </a:p>
        </p:txBody>
      </p:sp>
      <p:sp>
        <p:nvSpPr>
          <p:cNvPr id="16" name="Shape 14"/>
          <p:cNvSpPr/>
          <p:nvPr/>
        </p:nvSpPr>
        <p:spPr>
          <a:xfrm>
            <a:off x="877147" y="3803903"/>
            <a:ext cx="201168" cy="201168"/>
          </a:xfrm>
          <a:prstGeom prst="ellipse">
            <a:avLst/>
          </a:prstGeom>
          <a:solidFill>
            <a:srgbClr val="F26A1B"/>
          </a:solidFill>
          <a:ln w="12700">
            <a:solidFill>
              <a:srgbClr val="F26A1B"/>
            </a:solidFill>
            <a:prstDash val="solid"/>
          </a:ln>
        </p:spPr>
      </p:sp>
      <p:sp>
        <p:nvSpPr>
          <p:cNvPr id="17" name="Text 15"/>
          <p:cNvSpPr/>
          <p:nvPr/>
        </p:nvSpPr>
        <p:spPr>
          <a:xfrm>
            <a:off x="1178899" y="3785615"/>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Validation plan with tests, success criteria and evidence</a:t>
            </a:r>
            <a:endParaRPr lang="en-US" sz="1600" dirty="0"/>
          </a:p>
        </p:txBody>
      </p:sp>
      <p:sp>
        <p:nvSpPr>
          <p:cNvPr id="18" name="Shape 16"/>
          <p:cNvSpPr/>
          <p:nvPr/>
        </p:nvSpPr>
        <p:spPr>
          <a:xfrm>
            <a:off x="877147" y="4233671"/>
            <a:ext cx="201168" cy="201168"/>
          </a:xfrm>
          <a:prstGeom prst="ellipse">
            <a:avLst/>
          </a:prstGeom>
          <a:solidFill>
            <a:srgbClr val="006D6F"/>
          </a:solidFill>
          <a:ln w="12700">
            <a:solidFill>
              <a:srgbClr val="006D6F"/>
            </a:solidFill>
            <a:prstDash val="solid"/>
          </a:ln>
        </p:spPr>
      </p:sp>
      <p:sp>
        <p:nvSpPr>
          <p:cNvPr id="19" name="Text 17"/>
          <p:cNvSpPr/>
          <p:nvPr/>
        </p:nvSpPr>
        <p:spPr>
          <a:xfrm>
            <a:off x="1178899" y="4215383"/>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Technical explanation for the final production report</a:t>
            </a:r>
            <a:endParaRPr lang="en-US" sz="1600" dirty="0"/>
          </a:p>
        </p:txBody>
      </p:sp>
      <p:sp>
        <p:nvSpPr>
          <p:cNvPr id="20" name="Shape 18"/>
          <p:cNvSpPr/>
          <p:nvPr/>
        </p:nvSpPr>
        <p:spPr>
          <a:xfrm>
            <a:off x="877147" y="4663439"/>
            <a:ext cx="201168" cy="201168"/>
          </a:xfrm>
          <a:prstGeom prst="ellipse">
            <a:avLst/>
          </a:prstGeom>
          <a:solidFill>
            <a:srgbClr val="F26A1B"/>
          </a:solidFill>
          <a:ln w="12700">
            <a:solidFill>
              <a:srgbClr val="F26A1B"/>
            </a:solidFill>
            <a:prstDash val="solid"/>
          </a:ln>
        </p:spPr>
      </p:sp>
      <p:sp>
        <p:nvSpPr>
          <p:cNvPr id="21" name="Text 19"/>
          <p:cNvSpPr/>
          <p:nvPr/>
        </p:nvSpPr>
        <p:spPr>
          <a:xfrm>
            <a:off x="1178899" y="4645151"/>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Visual/commercial explanation for the user-facing report</a:t>
            </a:r>
            <a:endParaRPr lang="en-US" sz="1600" dirty="0"/>
          </a:p>
        </p:txBody>
      </p:sp>
      <p:sp>
        <p:nvSpPr>
          <p:cNvPr id="22" name="Shape 20"/>
          <p:cNvSpPr/>
          <p:nvPr/>
        </p:nvSpPr>
        <p:spPr>
          <a:xfrm>
            <a:off x="877147" y="5093207"/>
            <a:ext cx="201168" cy="201168"/>
          </a:xfrm>
          <a:prstGeom prst="ellipse">
            <a:avLst/>
          </a:prstGeom>
          <a:solidFill>
            <a:srgbClr val="006D6F"/>
          </a:solidFill>
          <a:ln w="12700">
            <a:solidFill>
              <a:srgbClr val="006D6F"/>
            </a:solidFill>
            <a:prstDash val="solid"/>
          </a:ln>
        </p:spPr>
      </p:sp>
      <p:sp>
        <p:nvSpPr>
          <p:cNvPr id="23" name="Text 21"/>
          <p:cNvSpPr/>
          <p:nvPr/>
        </p:nvSpPr>
        <p:spPr>
          <a:xfrm>
            <a:off x="1178899" y="5074919"/>
            <a:ext cx="10058400" cy="219456"/>
          </a:xfrm>
          <a:prstGeom prst="rect">
            <a:avLst/>
          </a:prstGeom>
          <a:noFill/>
          <a:ln/>
        </p:spPr>
        <p:txBody>
          <a:bodyPr wrap="square" lIns="0" tIns="0" rIns="0" bIns="0" rtlCol="0" anchor="ctr">
            <a:noAutofit/>
          </a:bodyPr>
          <a:lstStyle/>
          <a:p>
            <a:pPr marL="0" indent="0">
              <a:buNone/>
            </a:pPr>
            <a:r>
              <a:rPr lang="en-US" sz="1600" dirty="0">
                <a:solidFill>
                  <a:srgbClr val="233033"/>
                </a:solidFill>
              </a:rPr>
              <a:t>Missing information and next steps</a:t>
            </a:r>
            <a:endParaRPr lang="en-US" sz="1600" dirty="0"/>
          </a:p>
        </p:txBody>
      </p:sp>
      <p:sp>
        <p:nvSpPr>
          <p:cNvPr id="24" name="Text 22"/>
          <p:cNvSpPr/>
          <p:nvPr/>
        </p:nvSpPr>
        <p:spPr>
          <a:xfrm>
            <a:off x="731520" y="5715000"/>
            <a:ext cx="10698480" cy="256032"/>
          </a:xfrm>
          <a:prstGeom prst="rect">
            <a:avLst/>
          </a:prstGeom>
          <a:noFill/>
          <a:ln/>
        </p:spPr>
        <p:txBody>
          <a:bodyPr wrap="square" lIns="0" tIns="0" rIns="0" bIns="0" rtlCol="0" anchor="ctr"/>
          <a:lstStyle/>
          <a:p>
            <a:pPr marL="0" indent="0" algn="ctr">
              <a:buNone/>
            </a:pPr>
            <a:r>
              <a:rPr lang="en-US" sz="1400" b="1" dirty="0">
                <a:solidFill>
                  <a:srgbClr val="006D6F"/>
                </a:solidFill>
              </a:rPr>
              <a:t>Suggested length: 8–12 pages. Use images, diagrams, tables, captions and short paragraphs.</a:t>
            </a:r>
            <a:endParaRPr lang="en-US" sz="1400" dirty="0"/>
          </a:p>
        </p:txBody>
      </p:sp>
      <p:sp>
        <p:nvSpPr>
          <p:cNvPr id="25" name="Text 23"/>
          <p:cNvSpPr/>
          <p:nvPr/>
        </p:nvSpPr>
        <p:spPr>
          <a:xfrm>
            <a:off x="502920" y="6473952"/>
            <a:ext cx="3291840" cy="164592"/>
          </a:xfrm>
          <a:prstGeom prst="rect">
            <a:avLst/>
          </a:prstGeom>
          <a:noFill/>
          <a:ln/>
        </p:spPr>
        <p:txBody>
          <a:bodyPr wrap="square" lIns="0" tIns="0" rIns="0" bIns="0" rtlCol="0" anchor="ctr"/>
          <a:lstStyle/>
          <a:p>
            <a:pPr marL="0" indent="0">
              <a:buNone/>
            </a:pPr>
            <a:r>
              <a:rPr lang="en-US" sz="730" dirty="0">
                <a:solidFill>
                  <a:srgbClr val="8B9699"/>
                </a:solidFill>
              </a:rPr>
              <a:t>Specification of Products and Services</a:t>
            </a:r>
            <a:endParaRPr lang="en-US" sz="7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840</Words>
  <Application>Microsoft Macintosh PowerPoint</Application>
  <PresentationFormat>Panorámica</PresentationFormat>
  <Paragraphs>164</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Tecnologico de Monterrey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5 — Ergonomics, Use Diagrams and Validation Plan</dc:title>
  <dc:subject>Specification of Products and Services</dc:subject>
  <dc:creator>Victor Valencia</dc:creator>
  <cp:lastModifiedBy>Microsoft Office User</cp:lastModifiedBy>
  <cp:revision>3</cp:revision>
  <dcterms:created xsi:type="dcterms:W3CDTF">2026-05-28T19:27:33Z</dcterms:created>
  <dcterms:modified xsi:type="dcterms:W3CDTF">2026-05-28T19:56:54Z</dcterms:modified>
</cp:coreProperties>
</file>