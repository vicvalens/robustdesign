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6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3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607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5F62"/>
          </a:solidFill>
          <a:ln w="12700">
            <a:solidFill>
              <a:srgbClr val="005F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6528816"/>
            <a:ext cx="11247120" cy="0"/>
          </a:xfrm>
          <a:prstGeom prst="line">
            <a:avLst/>
          </a:prstGeom>
          <a:noFill/>
          <a:ln w="6350">
            <a:solidFill>
              <a:srgbClr val="DFE5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design_studio_office_desk_scene_wi_batch_2.png"/>
          <p:cNvPicPr>
            <a:picLocks noChangeAspect="1"/>
          </p:cNvPicPr>
          <p:nvPr/>
        </p:nvPicPr>
        <p:blipFill>
          <a:blip r:embed="rId3"/>
          <a:srcRect l="24186" r="24186"/>
          <a:stretch/>
        </p:blipFill>
        <p:spPr>
          <a:xfrm>
            <a:off x="5897880" y="0"/>
            <a:ext cx="62910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F7F8F8"/>
          </a:solidFill>
          <a:ln w="12700">
            <a:solidFill>
              <a:srgbClr val="F7F8F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822960"/>
            <a:ext cx="91440" cy="1801368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804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7A20"/>
                </a:solidFill>
              </a:rPr>
              <a:t>SESSION 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115568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F2A2E"/>
                </a:solidFill>
              </a:rPr>
              <a:t>Production Manual,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F2A2E"/>
                </a:solidFill>
              </a:rPr>
              <a:t>Sustainability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F2A2E"/>
                </a:solidFill>
              </a:rPr>
              <a:t>and Digital Output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85800" y="290779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356"/>
                </a:solidFill>
              </a:rPr>
              <a:t>How the product is made, assembled, maintained, and presented as a website or app prototype.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72084" y="5770880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E9F4F4"/>
          </a:solidFill>
          <a:ln w="12700">
            <a:solidFill>
              <a:srgbClr val="E9F4F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" y="5844032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F62"/>
                </a:solidFill>
              </a:rPr>
              <a:t>Production report fragment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40964" y="5770880"/>
            <a:ext cx="2057400" cy="310896"/>
          </a:xfrm>
          <a:prstGeom prst="roundRect">
            <a:avLst>
              <a:gd name="adj" fmla="val 17647"/>
            </a:avLst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23260" y="5844032"/>
            <a:ext cx="1892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A20"/>
                </a:solidFill>
              </a:rPr>
              <a:t>Digital report output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65653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8588"/>
                </a:solidFill>
              </a:rPr>
              <a:t>Specification of Products and Services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session matters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356"/>
                </a:solidFill>
              </a:rPr>
              <a:t>From technical decisions to a production-ready story.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285661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E1E7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85661"/>
            <a:ext cx="73152" cy="2331720"/>
          </a:xfrm>
          <a:prstGeom prst="rect">
            <a:avLst/>
          </a:prstGeom>
          <a:solidFill>
            <a:srgbClr val="BDAE9C"/>
          </a:solidFill>
          <a:ln w="12700">
            <a:solidFill>
              <a:srgbClr val="BDAE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468541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</a:rPr>
              <a:t>Before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2816013"/>
            <a:ext cx="2935224" cy="1655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356"/>
                </a:solidFill>
              </a:rPr>
              <a:t>Requirements, materials, drawings, BOM and validation plan exist as separate sections.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62272" y="2285661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E1E7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2272" y="2285661"/>
            <a:ext cx="73152" cy="2331720"/>
          </a:xfrm>
          <a:prstGeom prst="rect">
            <a:avLst/>
          </a:prstGeom>
          <a:solidFill>
            <a:srgbClr val="005F62"/>
          </a:solidFill>
          <a:ln w="12700">
            <a:solidFill>
              <a:srgbClr val="005F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468541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</a:rPr>
              <a:t>Today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816013"/>
            <a:ext cx="2935224" cy="1655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356"/>
                </a:solidFill>
              </a:rPr>
              <a:t>Organize how the product is produced, assembled, checked, maintained and handled over time.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285661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E1E7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285661"/>
            <a:ext cx="73152" cy="2331720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2468541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</a:rPr>
              <a:t>After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816013"/>
            <a:ext cx="2935224" cy="1655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B5356"/>
                </a:solidFill>
              </a:rPr>
              <a:t>The final report can become a complete product specification package plus a user-facing webpage or app.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6132" y="5111496"/>
            <a:ext cx="10058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2E"/>
                </a:solidFill>
              </a:rPr>
              <a:t>Key idea: the final project is not only a render. It must explain production logic and communicate the product clearly.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5653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8588"/>
                </a:solidFill>
              </a:rPr>
              <a:t>Specification of Products and Services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6 deliverable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F62"/>
                </a:solidFill>
              </a:rPr>
              <a:t>Production Manual, Sustainability, Life Cycle and Digital Output Report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979322" cy="561703"/>
          </a:xfrm>
          <a:prstGeom prst="rect">
            <a:avLst/>
          </a:prstGeom>
          <a:solidFill>
            <a:srgbClr val="005F62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764792"/>
            <a:ext cx="869594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#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19402" y="1691640"/>
            <a:ext cx="3046781" cy="561703"/>
          </a:xfrm>
          <a:prstGeom prst="rect">
            <a:avLst/>
          </a:prstGeom>
          <a:solidFill>
            <a:srgbClr val="005F62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4266" y="1764792"/>
            <a:ext cx="2937053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6183" y="1691640"/>
            <a:ext cx="6855257" cy="561703"/>
          </a:xfrm>
          <a:prstGeom prst="rect">
            <a:avLst/>
          </a:prstGeom>
          <a:solidFill>
            <a:srgbClr val="005F62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1047" y="1764792"/>
            <a:ext cx="6745529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must create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253343"/>
            <a:ext cx="979322" cy="561703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326495"/>
            <a:ext cx="869594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01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19402" y="2253343"/>
            <a:ext cx="3046781" cy="561703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74266" y="2326495"/>
            <a:ext cx="2937053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Production overview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6183" y="2253343"/>
            <a:ext cx="6855257" cy="561703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1047" y="2326495"/>
            <a:ext cx="6745529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How the product could be manufactured.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815046"/>
            <a:ext cx="979322" cy="561703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2888198"/>
            <a:ext cx="869594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02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19402" y="2815046"/>
            <a:ext cx="3046781" cy="561703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74266" y="2888198"/>
            <a:ext cx="2937053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Production flow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6183" y="2815046"/>
            <a:ext cx="6855257" cy="561703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1047" y="2888198"/>
            <a:ext cx="6745529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Steps from material sourcing to finished product.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3376749"/>
            <a:ext cx="979322" cy="561703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449901"/>
            <a:ext cx="869594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03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619402" y="3376749"/>
            <a:ext cx="3046781" cy="561703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74266" y="3449901"/>
            <a:ext cx="2937053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Assembly + quality control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6183" y="3376749"/>
            <a:ext cx="6855257" cy="561703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1047" y="3449901"/>
            <a:ext cx="6745529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How parts are joined and checked.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3938451"/>
            <a:ext cx="979322" cy="561703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4011603"/>
            <a:ext cx="869594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04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619402" y="3938451"/>
            <a:ext cx="3046781" cy="561703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74266" y="4011603"/>
            <a:ext cx="2937053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Maintenance + repair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66183" y="3938451"/>
            <a:ext cx="6855257" cy="561703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1047" y="4011603"/>
            <a:ext cx="6745529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How the user cleans, stores, repairs or replaces parts.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" y="4500154"/>
            <a:ext cx="979322" cy="561703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" y="4573306"/>
            <a:ext cx="869594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619402" y="4500154"/>
            <a:ext cx="3046781" cy="561703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74266" y="4573306"/>
            <a:ext cx="2937053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Sustainability + life cycle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666183" y="4500154"/>
            <a:ext cx="6855257" cy="561703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21047" y="4573306"/>
            <a:ext cx="6745529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How the product reduces waste and what happens at end of life.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40080" y="5061857"/>
            <a:ext cx="979322" cy="561703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" y="5135009"/>
            <a:ext cx="869594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06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619402" y="5061857"/>
            <a:ext cx="3046781" cy="561703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74266" y="5135009"/>
            <a:ext cx="2937053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Digital output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666183" y="5061857"/>
            <a:ext cx="6855257" cy="561703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21047" y="5135009"/>
            <a:ext cx="6745529" cy="451975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Website, GitHub Pages, app mockup or Expo Go prototype.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77240" y="58978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356"/>
                </a:solidFill>
              </a:rPr>
              <a:t>Suggested length: 6–10 pages. Use images, tables, diagrams and short captions.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02920" y="65653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8588"/>
                </a:solidFill>
              </a:rPr>
              <a:t>Specification of Products and Services</a:t>
            </a:r>
            <a:endParaRPr lang="en-US" sz="6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356"/>
                </a:solidFill>
              </a:rPr>
              <a:t>Must explain the sequence, not just list materials.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221992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450592"/>
            <a:ext cx="438912" cy="438912"/>
          </a:xfrm>
          <a:prstGeom prst="ellipse">
            <a:avLst/>
          </a:prstGeom>
          <a:solidFill>
            <a:srgbClr val="005F62"/>
          </a:solidFill>
          <a:ln w="12700">
            <a:solidFill>
              <a:srgbClr val="005F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5511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459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</a:rPr>
              <a:t>Source materials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8437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materials, hardware, suppliers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2221992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0872" y="2450592"/>
            <a:ext cx="438912" cy="438912"/>
          </a:xfrm>
          <a:prstGeom prst="ellipse">
            <a:avLst/>
          </a:prstGeom>
          <a:solidFill>
            <a:srgbClr val="005F62"/>
          </a:solidFill>
          <a:ln w="12700">
            <a:solidFill>
              <a:srgbClr val="005F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5511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2459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</a:rPr>
              <a:t>Make parts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57800" y="28437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cut, sew, print, mold, CNC, weld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21040" y="2221992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85632" y="2450592"/>
            <a:ext cx="438912" cy="438912"/>
          </a:xfrm>
          <a:prstGeom prst="ellipse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255117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52560" y="2459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</a:rPr>
              <a:t>Assemble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52560" y="28437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join parts, modules, fasteners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1605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389120"/>
            <a:ext cx="438912" cy="438912"/>
          </a:xfrm>
          <a:prstGeom prst="ellipse">
            <a:avLst/>
          </a:prstGeom>
          <a:solidFill>
            <a:srgbClr val="005F62"/>
          </a:solidFill>
          <a:ln w="12700">
            <a:solidFill>
              <a:srgbClr val="005F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48970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398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</a:rPr>
              <a:t>Test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47823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load, fit, leak, comfort, function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26280" y="41605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90872" y="4389120"/>
            <a:ext cx="438912" cy="438912"/>
          </a:xfrm>
          <a:prstGeom prst="ellipse">
            <a:avLst/>
          </a:prstGeom>
          <a:solidFill>
            <a:srgbClr val="005F62"/>
          </a:solidFill>
          <a:ln w="12700">
            <a:solidFill>
              <a:srgbClr val="005F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448970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4398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</a:rPr>
              <a:t>Inspect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57800" y="47823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quality checklist before delivery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21040" y="41605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85632" y="4389120"/>
            <a:ext cx="438912" cy="438912"/>
          </a:xfrm>
          <a:prstGeom prst="ellipse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85632" y="448970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52560" y="4398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</a:rPr>
              <a:t>Maintain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52560" y="47823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clean, replace, repair, recycle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" y="65653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8588"/>
                </a:solidFill>
              </a:rPr>
              <a:t>Specification of Products and Services</a:t>
            </a:r>
            <a:endParaRPr lang="en-US" sz="6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Maintenance, repair and life 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356"/>
                </a:solidFill>
              </a:rPr>
              <a:t>A robust product must explain what happens after the user buys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8454" y="1929384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1E7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8454" y="1929384"/>
            <a:ext cx="73152" cy="1828800"/>
          </a:xfrm>
          <a:prstGeom prst="rect">
            <a:avLst/>
          </a:prstGeom>
          <a:solidFill>
            <a:srgbClr val="005F62"/>
          </a:solidFill>
          <a:ln w="12700">
            <a:solidFill>
              <a:srgbClr val="005F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9622" y="2112264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</a:rPr>
              <a:t>Maintenance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9622" y="2459736"/>
            <a:ext cx="2889504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How to clean, store, dry, charge, wash, lubricate or protect the product.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43214" y="1929384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1E7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3214" y="1929384"/>
            <a:ext cx="73152" cy="1828800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4382" y="2112264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</a:rPr>
              <a:t>Repair / replacement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44382" y="2459736"/>
            <a:ext cx="2889504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Which parts can be replaced instead of discarding the entire product.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37974" y="1929384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1E7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7974" y="1929384"/>
            <a:ext cx="73152" cy="1828800"/>
          </a:xfrm>
          <a:prstGeom prst="rect">
            <a:avLst/>
          </a:prstGeom>
          <a:solidFill>
            <a:srgbClr val="7CA982"/>
          </a:solidFill>
          <a:ln w="12700">
            <a:solidFill>
              <a:srgbClr val="7CA9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9142" y="2112264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</a:rPr>
              <a:t>Life cycle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39142" y="2459736"/>
            <a:ext cx="2889504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Material sourcing, manufacturing, distribution, use, maintenance and end of life.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86307" y="4370832"/>
            <a:ext cx="2790749" cy="320040"/>
          </a:xfrm>
          <a:prstGeom prst="rect">
            <a:avLst/>
          </a:prstGeom>
          <a:solidFill>
            <a:srgbClr val="0F7C80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1171" y="4443984"/>
            <a:ext cx="2681021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877056" y="4370832"/>
            <a:ext cx="7176211" cy="320040"/>
          </a:xfrm>
          <a:prstGeom prst="rect">
            <a:avLst/>
          </a:prstGeom>
          <a:solidFill>
            <a:srgbClr val="0F7C80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4443984"/>
            <a:ext cx="7066483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Question to answer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86307" y="4690872"/>
            <a:ext cx="2790749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1171" y="4764024"/>
            <a:ext cx="2681021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Material sourcing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77056" y="4690872"/>
            <a:ext cx="7176211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4764024"/>
            <a:ext cx="7066483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Where do materials or parts come from?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86307" y="5010912"/>
            <a:ext cx="2790749" cy="320040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1171" y="5084064"/>
            <a:ext cx="2681021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Use phase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77056" y="5010912"/>
            <a:ext cx="7176211" cy="320040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5084064"/>
            <a:ext cx="7066483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How long should it last and how is it maintained?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86307" y="5330952"/>
            <a:ext cx="2790749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1171" y="5404104"/>
            <a:ext cx="2681021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Repair phase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877056" y="5330952"/>
            <a:ext cx="7176211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0" y="5404104"/>
            <a:ext cx="7066483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What can be replaced, reused or upgraded?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86307" y="5650992"/>
            <a:ext cx="2790749" cy="320040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1171" y="5724144"/>
            <a:ext cx="2681021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End of life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877056" y="5650992"/>
            <a:ext cx="7176211" cy="320040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0" y="5724144"/>
            <a:ext cx="7066483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What can be recycled, separated, returned or disposed?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02920" y="65653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8588"/>
                </a:solidFill>
              </a:rPr>
              <a:t>Specification of Products and Services</a:t>
            </a:r>
            <a:endParaRPr lang="en-US" sz="6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Digital output options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356"/>
                </a:solidFill>
              </a:rPr>
              <a:t>The visual/commercial report can become a simple website, app mockup or digital page.</a:t>
            </a:r>
            <a:endParaRPr lang="en-US" sz="1600" dirty="0"/>
          </a:p>
        </p:txBody>
      </p:sp>
      <p:pic>
        <p:nvPicPr>
          <p:cNvPr id="5" name="Image 0" descr="/mnt/data/a_clean_modern_workspace_product_design_studio_s_batch_1.png"/>
          <p:cNvPicPr>
            <a:picLocks noChangeAspect="1"/>
          </p:cNvPicPr>
          <p:nvPr/>
        </p:nvPicPr>
        <p:blipFill>
          <a:blip r:embed="rId3"/>
          <a:srcRect l="22688" r="22688"/>
          <a:stretch/>
        </p:blipFill>
        <p:spPr>
          <a:xfrm>
            <a:off x="6995160" y="1600200"/>
            <a:ext cx="4526280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1200" y="2048256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E1E7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1200" y="2048256"/>
            <a:ext cx="73152" cy="1143000"/>
          </a:xfrm>
          <a:prstGeom prst="rect">
            <a:avLst/>
          </a:prstGeom>
          <a:solidFill>
            <a:srgbClr val="005F62"/>
          </a:solidFill>
          <a:ln w="12700">
            <a:solidFill>
              <a:srgbClr val="005F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2368" y="2231136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</a:rPr>
              <a:t>GitHub Pages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2368" y="2578608"/>
            <a:ext cx="494690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Best for publishing a simple public class/product website from a repository.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11200" y="3419856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E1E7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1200" y="3419856"/>
            <a:ext cx="73152" cy="1143000"/>
          </a:xfrm>
          <a:prstGeom prst="rect">
            <a:avLst/>
          </a:prstGeom>
          <a:solidFill>
            <a:srgbClr val="F47A20"/>
          </a:solidFill>
          <a:ln w="12700">
            <a:solidFill>
              <a:srgbClr val="F47A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2368" y="3602736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</a:rPr>
              <a:t>Expo Go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12368" y="3950208"/>
            <a:ext cx="494690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Best for testing a mobile app prototype on a phone without building a final app store version.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11200" y="4791456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E1E7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1200" y="4791456"/>
            <a:ext cx="73152" cy="1143000"/>
          </a:xfrm>
          <a:prstGeom prst="rect">
            <a:avLst/>
          </a:prstGeom>
          <a:solidFill>
            <a:srgbClr val="BDAE9C"/>
          </a:solidFill>
          <a:ln w="12700">
            <a:solidFill>
              <a:srgbClr val="BDAE9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2368" y="4974336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2E"/>
                </a:solidFill>
              </a:rPr>
              <a:t>Notion / Google Sites / Canva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12368" y="5321808"/>
            <a:ext cx="4946904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Best for fast digital dossiers when the focus is documentation and visual clarity.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65653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8588"/>
                </a:solidFill>
              </a:rPr>
              <a:t>Specification of Products and Services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production content becomes digital content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356"/>
                </a:solidFill>
              </a:rPr>
              <a:t>Use the same evidence, but write it for a different </a:t>
            </a:r>
            <a:r>
              <a:rPr lang="en-US" sz="1600" dirty="0">
                <a:solidFill>
                  <a:srgbClr val="4B5356"/>
                </a:solidFill>
              </a:rPr>
              <a:t>audience</a:t>
            </a:r>
            <a:r>
              <a:rPr lang="en-US" sz="1300" dirty="0">
                <a:solidFill>
                  <a:srgbClr val="4B5356"/>
                </a:solidFill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326380" cy="693420"/>
          </a:xfrm>
          <a:prstGeom prst="rect">
            <a:avLst/>
          </a:prstGeom>
          <a:solidFill>
            <a:srgbClr val="005F62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764792"/>
            <a:ext cx="5216652" cy="5836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Production / technical report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03620" y="1691640"/>
            <a:ext cx="5326380" cy="693420"/>
          </a:xfrm>
          <a:prstGeom prst="rect">
            <a:avLst/>
          </a:prstGeom>
          <a:solidFill>
            <a:srgbClr val="005F62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58484" y="1764792"/>
            <a:ext cx="5216652" cy="5836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Website or app language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385060"/>
            <a:ext cx="5326380" cy="69342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458212"/>
            <a:ext cx="5216652" cy="5836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Ripstop nylon with reinforced stitching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03620" y="2385060"/>
            <a:ext cx="5326380" cy="69342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8484" y="2458212"/>
            <a:ext cx="5216652" cy="5836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Durable fabric made for daily movement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3078480"/>
            <a:ext cx="5326380" cy="693420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3151632"/>
            <a:ext cx="5216652" cy="5836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Replaceable buckle and modular strap system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03620" y="3078480"/>
            <a:ext cx="5326380" cy="693420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8484" y="3151632"/>
            <a:ext cx="5216652" cy="5836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Repairable parts that extend product life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3771900"/>
            <a:ext cx="5326380" cy="69342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3845052"/>
            <a:ext cx="5216652" cy="5836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Quality control: load and attachment test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03620" y="3771900"/>
            <a:ext cx="5326380" cy="69342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58484" y="3845052"/>
            <a:ext cx="5216652" cy="5836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Tested for secure everyday use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4465320"/>
            <a:ext cx="5326380" cy="693420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4538472"/>
            <a:ext cx="5216652" cy="5836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Maintenance: wipe clean and air dry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03620" y="4465320"/>
            <a:ext cx="5326380" cy="693420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58484" y="4538472"/>
            <a:ext cx="5216652" cy="5836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Easy to clean after daily use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5158740"/>
            <a:ext cx="5326380" cy="69342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" y="5231892"/>
            <a:ext cx="5216652" cy="5836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End-of-life: disassemble textile and hardware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03620" y="5158740"/>
            <a:ext cx="5326380" cy="69342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8484" y="5231892"/>
            <a:ext cx="5216652" cy="5836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Designed to be repaired, reused or recycled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6053328"/>
            <a:ext cx="9829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7A20"/>
                </a:solidFill>
              </a:rPr>
              <a:t>Do not copy the technical paragraph into the web/app. Translate it into user benefits.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2920" y="65653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8588"/>
                </a:solidFill>
              </a:rPr>
              <a:t>Specification of Products and Services</a:t>
            </a:r>
            <a:endParaRPr lang="en-US" sz="6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NotebookLM prompt for Session 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356"/>
                </a:solidFill>
              </a:rPr>
              <a:t>Use NotebookLM to draft the report, then edit and verify.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10835640" cy="4526280"/>
          </a:xfrm>
          <a:prstGeom prst="roundRect">
            <a:avLst>
              <a:gd name="adj" fmla="val 1212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D8E1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38528"/>
            <a:ext cx="102412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chemeClr val="bg1"/>
                </a:solidFill>
              </a:rPr>
              <a:t>Using only the uploaded sources, create a Session 6 report titled “Production Manual, Sustainability and Life Cycle”.</a:t>
            </a:r>
          </a:p>
          <a:p>
            <a:pPr marL="0" indent="0">
              <a:buNone/>
            </a:pPr>
            <a:endParaRPr lang="en-US" sz="124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40" dirty="0">
                <a:solidFill>
                  <a:schemeClr val="bg1"/>
                </a:solidFill>
              </a:rPr>
              <a:t>Include: production overview, production flow, assembly sequence, tools and processes, quality control checklist, maintenance instructions, repair/replacement strategy, sustainability strategy, product life cycle, basic norms/references, missing information and next steps.</a:t>
            </a:r>
          </a:p>
          <a:p>
            <a:pPr marL="0" indent="0">
              <a:buNone/>
            </a:pPr>
            <a:endParaRPr lang="en-US" sz="124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40" dirty="0">
                <a:solidFill>
                  <a:schemeClr val="bg1"/>
                </a:solidFill>
              </a:rPr>
              <a:t>Also suggest how the same content can become a website, GitHub Pages page, Expo Go app prototype or digital dossier.</a:t>
            </a:r>
          </a:p>
          <a:p>
            <a:pPr marL="0" indent="0">
              <a:buNone/>
            </a:pPr>
            <a:endParaRPr lang="en-US" sz="124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40" dirty="0">
                <a:solidFill>
                  <a:schemeClr val="bg1"/>
                </a:solidFill>
              </a:rPr>
              <a:t>Do not invent final data. If information is missing, write “to be defined”, “needs supplier”, “needs testing” or “needs evidence”.</a:t>
            </a:r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8588"/>
                </a:solidFill>
              </a:rPr>
              <a:t>Specification of Products and Services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A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submit for Session 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356"/>
                </a:solidFill>
              </a:rPr>
              <a:t>A concise report fragment that can be integrated into the final report.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1664208"/>
            <a:ext cx="1024128" cy="492760"/>
          </a:xfrm>
          <a:prstGeom prst="rect">
            <a:avLst/>
          </a:prstGeom>
          <a:solidFill>
            <a:srgbClr val="005F62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737360"/>
            <a:ext cx="914400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#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92808" y="1664208"/>
            <a:ext cx="9217152" cy="492760"/>
          </a:xfrm>
          <a:prstGeom prst="rect">
            <a:avLst/>
          </a:prstGeom>
          <a:solidFill>
            <a:srgbClr val="005F62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47672" y="1737360"/>
            <a:ext cx="9107424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Checklist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156968"/>
            <a:ext cx="1024128" cy="4927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230120"/>
            <a:ext cx="914400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92808" y="2156968"/>
            <a:ext cx="9217152" cy="4927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47672" y="2230120"/>
            <a:ext cx="9107424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Cover / header with project name and main image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2649728"/>
            <a:ext cx="1024128" cy="492760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" y="2722880"/>
            <a:ext cx="914400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92808" y="2649728"/>
            <a:ext cx="9217152" cy="492760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7672" y="2722880"/>
            <a:ext cx="9107424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Production overview and production flow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3142488"/>
            <a:ext cx="1024128" cy="4927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" y="3215640"/>
            <a:ext cx="914400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892808" y="3142488"/>
            <a:ext cx="9217152" cy="4927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47672" y="3215640"/>
            <a:ext cx="9107424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Assembly sequence and tools/processes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8680" y="3635248"/>
            <a:ext cx="1024128" cy="492760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" y="3708400"/>
            <a:ext cx="914400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892808" y="3635248"/>
            <a:ext cx="9217152" cy="492760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47672" y="3708400"/>
            <a:ext cx="9107424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Quality control checklist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8680" y="4128008"/>
            <a:ext cx="1024128" cy="4927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" y="4201160"/>
            <a:ext cx="914400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892808" y="4128008"/>
            <a:ext cx="9217152" cy="4927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47672" y="4201160"/>
            <a:ext cx="9107424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Maintenance, repair and replacement strategy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68680" y="4620768"/>
            <a:ext cx="1024128" cy="492760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" y="4693920"/>
            <a:ext cx="914400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06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892808" y="4620768"/>
            <a:ext cx="9217152" cy="492760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47672" y="4693920"/>
            <a:ext cx="9107424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Sustainability strategy and life cycle diagram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68680" y="5113528"/>
            <a:ext cx="1024128" cy="4927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" y="5186680"/>
            <a:ext cx="914400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07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892808" y="5113528"/>
            <a:ext cx="9217152" cy="4927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47672" y="5186680"/>
            <a:ext cx="9107424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Digital output plan: website, GitHub Pages, app or dossier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68680" y="5606288"/>
            <a:ext cx="1024128" cy="492760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3544" y="5679440"/>
            <a:ext cx="914400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08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892808" y="5606288"/>
            <a:ext cx="9217152" cy="492760"/>
          </a:xfrm>
          <a:prstGeom prst="rect">
            <a:avLst/>
          </a:prstGeom>
          <a:solidFill>
            <a:srgbClr val="F3F6F6"/>
          </a:solidFill>
          <a:ln w="5080">
            <a:solidFill>
              <a:srgbClr val="D1DA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47672" y="5679440"/>
            <a:ext cx="9107424" cy="383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356"/>
                </a:solidFill>
              </a:rPr>
              <a:t>Missing information and next steps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02920" y="65653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A8588"/>
                </a:solidFill>
              </a:rPr>
              <a:t>Specification of Products and Services</a:t>
            </a:r>
            <a:endParaRPr lang="en-US" sz="6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7A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907</Words>
  <Application>Microsoft Macintosh PowerPoint</Application>
  <PresentationFormat>Panorámica</PresentationFormat>
  <Paragraphs>165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Specification of Products and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6 — Production Manual + Digital Output</dc:title>
  <dc:subject>Session 6 Production Manual, Sustainability, Life Cycle and Digital Output</dc:subject>
  <dc:creator>Victor Valencia</dc:creator>
  <cp:lastModifiedBy>Microsoft Office User</cp:lastModifiedBy>
  <cp:revision>3</cp:revision>
  <dcterms:created xsi:type="dcterms:W3CDTF">2026-06-02T16:06:42Z</dcterms:created>
  <dcterms:modified xsi:type="dcterms:W3CDTF">2026-06-02T16:40:32Z</dcterms:modified>
</cp:coreProperties>
</file>